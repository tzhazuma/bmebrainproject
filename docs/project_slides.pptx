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Brain MRI Research Projects</a:t>
            </a:r>
          </a:p>
          <a:p>
            <a:pPr>
              <a:defRPr sz="3200" b="1"/>
            </a:pPr>
            <a:r>
              <a:t>BID Lab — ShanghaiTech University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46464"/>
                </a:solidFill>
              </a:defRPr>
            </a:pPr>
            <a:r>
              <a:t>T2T-Bridge (ISBI 2025)  |  Multimodal PET/MR Diagnosis (ICASSP 2025)</a:t>
            </a:r>
            <a:br/>
            <a:r>
              <a:t>Comprehensive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Project 1: T2T-Bridge — Infant MRI Super-Resolution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Goal: Reconstruct 3D thin-slice infant MRI from 2D thick-slice clinical scans</a:t>
            </a:r>
          </a:p>
          <a:p>
            <a:pPr>
              <a:spcAft>
                <a:spcPts val="600"/>
              </a:spcAft>
              <a:defRPr sz="1600"/>
            </a:pPr>
            <a:r>
              <a:t>• Method: Direct Diffusion Bridge (I2SB) + Classifier-Free Age Guidance (CFG)</a:t>
            </a:r>
          </a:p>
          <a:p>
            <a:pPr>
              <a:spcAft>
                <a:spcPts val="600"/>
              </a:spcAft>
              <a:defRPr sz="1600"/>
            </a:pPr>
            <a:r>
              <a:t>• Key Innovation: Predicts residual (not target), 15-step inference</a:t>
            </a:r>
          </a:p>
          <a:p>
            <a:pPr>
              <a:spcAft>
                <a:spcPts val="600"/>
              </a:spcAft>
              <a:defRPr sz="1600"/>
            </a:pPr>
            <a:r>
              <a:t>• Structure Consistency: Tissue segmentation loss enforces anatomical plausibility</a:t>
            </a:r>
          </a:p>
          <a:p>
            <a:pPr>
              <a:spcAft>
                <a:spcPts val="600"/>
              </a:spcAft>
              <a:defRPr sz="1600"/>
            </a:pPr>
            <a:r>
              <a:t>• Results: SSIM 0.9573, PSNR 33.38 dB (vs p2p GAN: SSIM 0.9309, PSNR 28.00)</a:t>
            </a:r>
          </a:p>
          <a:p>
            <a:pPr>
              <a:spcAft>
                <a:spcPts val="600"/>
              </a:spcAft>
              <a:defRPr sz="1600"/>
            </a:pPr>
            <a:r>
              <a:t>• Clinical Deployment: uMR890 3.0T at Children's Hospital of Fudan University</a:t>
            </a:r>
          </a:p>
          <a:p>
            <a:pPr>
              <a:spcAft>
                <a:spcPts val="600"/>
              </a:spcAft>
              <a:defRPr sz="1600"/>
            </a:pPr>
            <a:r>
              <a:t>• Data: Chinese Baby Connectome Project (362 infants, 0-72 months)</a:t>
            </a:r>
          </a:p>
          <a:p>
            <a:pPr>
              <a:spcAft>
                <a:spcPts val="600"/>
              </a:spcAft>
              <a:defRPr sz="1600"/>
            </a:pPr>
            <a:r>
              <a:t>• Repository: NVlabs/I2SB (388 stars) — adapted for 3D medical imaging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Project 2: Multimodal PET/MR for Alzheimer's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/>
            </a:pPr>
            <a:r>
              <a:t>• Goal: AI-based AD diagnosis that works with single-modality input at inference time</a:t>
            </a:r>
          </a:p>
          <a:p>
            <a:pPr>
              <a:spcAft>
                <a:spcPts val="600"/>
              </a:spcAft>
              <a:defRPr sz="1600"/>
            </a:pPr>
            <a:r>
              <a:t>• Method: MoPoE-VAE (Mixture-of-Products-of-Experts Variational Autoencoder)</a:t>
            </a:r>
          </a:p>
          <a:p>
            <a:pPr>
              <a:spcAft>
                <a:spcPts val="600"/>
              </a:spcAft>
              <a:defRPr sz="1600"/>
            </a:pPr>
            <a:r>
              <a:t>• Key Innovation: Trains on all modalities, infers from any subset (missing-modality robust)</a:t>
            </a:r>
          </a:p>
          <a:p>
            <a:pPr>
              <a:spcAft>
                <a:spcPts val="600"/>
              </a:spcAft>
              <a:defRPr sz="1600"/>
            </a:pPr>
            <a:r>
              <a:t>• Architecture: 3 modality-specific encoders → MoPoE fusion → MLP classifier</a:t>
            </a:r>
          </a:p>
          <a:p>
            <a:pPr>
              <a:spcAft>
                <a:spcPts val="600"/>
              </a:spcAft>
              <a:defRPr sz="1600"/>
            </a:pPr>
            <a:r>
              <a:t>• Cross-Modal Synthesis: FDG↔TAU PET interconversion for missing modality imputation</a:t>
            </a:r>
          </a:p>
          <a:p>
            <a:pPr>
              <a:spcAft>
                <a:spcPts val="600"/>
              </a:spcAft>
              <a:defRPr sz="1600"/>
            </a:pPr>
            <a:r>
              <a:t>• Data: ADNI (225 subjects, T1 MRI + FDG-PET + Tau-PET)</a:t>
            </a:r>
          </a:p>
          <a:p>
            <a:pPr>
              <a:spcAft>
                <a:spcPts val="600"/>
              </a:spcAft>
              <a:defRPr sz="1600"/>
            </a:pPr>
            <a:r>
              <a:t>• 38 subjects with all three modalities; 223 with T1; 119 with FDG; 62 with Tau</a:t>
            </a:r>
          </a:p>
          <a:p>
            <a:pPr>
              <a:spcAft>
                <a:spcPts val="600"/>
              </a:spcAft>
              <a:defRPr sz="1600"/>
            </a:pPr>
            <a:r>
              <a:t>• Training: Modality dropout (30%), KL + Cross-Entropy + Reconstruction losses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ADNI Dataset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225 total subjects | 11 GB processed data | DICOM→NIfTI via SimpleITK</a:t>
            </a:r>
          </a:p>
          <a:p>
            <a:pPr>
              <a:spcAft>
                <a:spcPts val="600"/>
              </a:spcAft>
              <a:defRPr sz="1500"/>
            </a:pPr>
            <a:r>
              <a:t>• T1 MRI: 223 subjects (NIfTI, ~43 MB each, MT1/N3m/Reoriented)</a:t>
            </a:r>
          </a:p>
          <a:p>
            <a:pPr>
              <a:spcAft>
                <a:spcPts val="600"/>
              </a:spcAft>
              <a:defRPr sz="1500"/>
            </a:pPr>
            <a:r>
              <a:t>• FDG-PET: 99 subjects (NIfTI, 6-13 MB, Coreg/Avg/Standardized)</a:t>
            </a:r>
          </a:p>
          <a:p>
            <a:pPr>
              <a:spcAft>
                <a:spcPts val="600"/>
              </a:spcAft>
              <a:defRPr sz="1500"/>
            </a:pPr>
            <a:r>
              <a:t>• Tau-PET: 48 subjects (NIfTI, 6-13 MB, AV1451 Coreg/Avg)</a:t>
            </a:r>
          </a:p>
          <a:p>
            <a:pPr>
              <a:spcAft>
                <a:spcPts val="600"/>
              </a:spcAft>
              <a:defRPr sz="1500"/>
            </a:pPr>
            <a:r>
              <a:t>• All-3 modalities: 17+ subjects (conversion in progress → expected 38)</a:t>
            </a:r>
          </a:p>
          <a:p>
            <a:pPr>
              <a:spcAft>
                <a:spcPts val="600"/>
              </a:spcAft>
              <a:defRPr sz="1500"/>
            </a:pPr>
            <a:r>
              <a:t>• Diagnosis: CN(114), EMCI(48), MCI(40), LMCI(21), AD(2)</a:t>
            </a:r>
          </a:p>
          <a:p>
            <a:pPr>
              <a:spcAft>
                <a:spcPts val="600"/>
              </a:spcAft>
              <a:defRPr sz="1500"/>
            </a:pPr>
            <a:r>
              <a:t>• Format: Per-subject directory with t1w.nii, fdg_pet.nii.gz, tau_pet.nii.gz, meta.json</a:t>
            </a:r>
          </a:p>
        </p:txBody>
      </p:sp>
      <p:pic>
        <p:nvPicPr>
          <p:cNvPr id="5" name="Picture 4" descr="experi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9144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Model Architecture: MoPoE-VAE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Training (multimodal):     T1w ─┐                     Inference (single):   FDG-PET → Enc → z → Classifier</a:t>
            </a:r>
          </a:p>
          <a:p>
            <a:pPr>
              <a:spcAft>
                <a:spcPts val="600"/>
              </a:spcAft>
              <a:defRPr sz="1400"/>
            </a:pPr>
            <a:r>
              <a:t>                          FDG  ─┼→ MoPoE Fusion → z                         ├→ Dec_T1 (synthesize)</a:t>
            </a:r>
          </a:p>
          <a:p>
            <a:pPr>
              <a:spcAft>
                <a:spcPts val="600"/>
              </a:spcAft>
              <a:defRPr sz="1400"/>
            </a:pPr>
            <a:r>
              <a:t>                          TAU  ─┘                                            └→ Dec_TAU (synthesize)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• MoPoE: q(z|X) = Σ_S π_S · Π_{i∈S} q_i(z|x_i)  — mixture over 2^K subsets</a:t>
            </a:r>
          </a:p>
          <a:p>
            <a:pPr>
              <a:spcAft>
                <a:spcPts val="600"/>
              </a:spcAft>
              <a:defRPr sz="1400"/>
            </a:pPr>
            <a:r>
              <a:t>• 30% modality dropout during training → robust to missing modalities</a:t>
            </a:r>
          </a:p>
          <a:p>
            <a:pPr>
              <a:spcAft>
                <a:spcPts val="600"/>
              </a:spcAft>
              <a:defRPr sz="1400"/>
            </a:pPr>
            <a:r>
              <a:t>• Diagnosis head: 3-layer MLP (LayerNorm + Dropout) → NC / MCI / AD</a:t>
            </a:r>
          </a:p>
          <a:p>
            <a:pPr>
              <a:spcAft>
                <a:spcPts val="600"/>
              </a:spcAft>
              <a:defRPr sz="1400"/>
            </a:pPr>
            <a:r>
              <a:t>• Cross-modal decoders: 3D transposed conv → synthesize missing modalities</a:t>
            </a:r>
          </a:p>
          <a:p>
            <a:pPr>
              <a:spcAft>
                <a:spcPts val="600"/>
              </a:spcAft>
              <a:defRPr sz="1400"/>
            </a:pPr>
            <a:r>
              <a:t>• Adapter: Learned importance weights per modality for adaptive fusion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Experiment Results: Synthetic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• Exp1 (Baseline): dim=128, all losses → Best Loss: 0.851</a:t>
            </a:r>
          </a:p>
          <a:p>
            <a:pPr>
              <a:spcAft>
                <a:spcPts val="600"/>
              </a:spcAft>
              <a:defRPr sz="1500"/>
            </a:pPr>
            <a:r>
              <a:t>• Exp2 (Large, BEST): dim=256, all losses → Best Loss: 0.670 (21% improvement!)</a:t>
            </a:r>
          </a:p>
          <a:p>
            <a:pPr>
              <a:spcAft>
                <a:spcPts val="600"/>
              </a:spcAft>
              <a:defRPr sz="1500"/>
            </a:pPr>
            <a:r>
              <a:t>• Exp3 (No-Cross): dim=128, w/o cross-modal → Best Loss: 0.763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Key Findings:</a:t>
            </a:r>
          </a:p>
          <a:p>
            <a:pPr>
              <a:spcAft>
                <a:spcPts val="600"/>
              </a:spcAft>
              <a:defRPr sz="1500"/>
            </a:pPr>
            <a:r>
              <a:t>• 256-dim latent space significantly improves convergence over 128-dim</a:t>
            </a:r>
          </a:p>
          <a:p>
            <a:pPr>
              <a:spcAft>
                <a:spcPts val="600"/>
              </a:spcAft>
              <a:defRPr sz="1500"/>
            </a:pPr>
            <a:r>
              <a:t>• All experiments run on RTX 4060 Laptop GPU (8GB VRAM)</a:t>
            </a:r>
          </a:p>
          <a:p>
            <a:pPr>
              <a:spcAft>
                <a:spcPts val="600"/>
              </a:spcAft>
              <a:defRPr sz="1500"/>
            </a:pPr>
            <a:r>
              <a:t>• 20 epochs, ~4 min per experiment on synthetic data</a:t>
            </a:r>
          </a:p>
          <a:p>
            <a:pPr>
              <a:spcAft>
                <a:spcPts val="600"/>
              </a:spcAft>
              <a:defRPr sz="1500"/>
            </a:pPr>
            <a:r>
              <a:t>• Training on real ADNI data (17 all-3 subjects) in progress</a:t>
            </a:r>
          </a:p>
          <a:p>
            <a:pPr>
              <a:spcAft>
                <a:spcPts val="600"/>
              </a:spcAft>
              <a:defRPr sz="1500"/>
            </a:pPr>
            <a:r>
              <a:t>• No applicable pretrained weights — random Kaiming init sufficient</a:t>
            </a:r>
          </a:p>
        </p:txBody>
      </p:sp>
      <p:pic>
        <p:nvPicPr>
          <p:cNvPr id="5" name="Picture 4" descr="experimen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914400"/>
            <a:ext cx="45720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Tools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Brain Extraction:   SynthStrip/FreeSurfer → HD-BET v2.0.1 (&lt;5s per volume)</a:t>
            </a:r>
          </a:p>
          <a:p>
            <a:pPr>
              <a:spcAft>
                <a:spcPts val="600"/>
              </a:spcAft>
              <a:defRPr sz="1500"/>
            </a:pPr>
            <a:r>
              <a:t>Tissue Segmentation: FreeSurfer infantFS → MONAI DynUNet (5.4M params)</a:t>
            </a:r>
          </a:p>
          <a:p>
            <a:pPr>
              <a:spcAft>
                <a:spcPts val="600"/>
              </a:spcAft>
              <a:defRPr sz="1500"/>
            </a:pPr>
            <a:r>
              <a:t>Image Registration:  ANTs/FSL → SimpleITK 2.5.4 (affine + rigid)</a:t>
            </a:r>
          </a:p>
          <a:p>
            <a:pPr>
              <a:spcAft>
                <a:spcPts val="600"/>
              </a:spcAft>
              <a:defRPr sz="1500"/>
            </a:pPr>
            <a:r>
              <a:t>DICOM Conversion:    dcm2niix → SimpleITK ImageSeriesReader</a:t>
            </a:r>
          </a:p>
          <a:p>
            <a:pPr>
              <a:spcAft>
                <a:spcPts val="600"/>
              </a:spcAft>
              <a:defRPr sz="1500"/>
            </a:pPr>
            <a:r>
              <a:t>Quantization:        bitsandbytes 0.49 (fp16/int8, 8GB VRAM sufficient)</a:t>
            </a:r>
          </a:p>
          <a:p>
            <a:pPr>
              <a:spcAft>
                <a:spcPts val="600"/>
              </a:spcAft>
              <a:defRPr sz="1500"/>
            </a:pPr>
            <a:r>
              <a:t>Distributed:         accelerate 1.13 (multi-GPU support)</a:t>
            </a:r>
          </a:p>
          <a:p>
            <a:pPr>
              <a:spcAft>
                <a:spcPts val="600"/>
              </a:spcAft>
              <a:defRPr sz="1500"/>
            </a:pPr>
            <a:r>
              <a:t>PPT Generation:      python-pptx 1.0.2 (programmatic slide creation)</a:t>
            </a:r>
          </a:p>
          <a:p>
            <a:pPr>
              <a:spcAft>
                <a:spcPts val="600"/>
              </a:spcAft>
              <a:defRPr sz="1500"/>
            </a:pPr>
            <a:r>
              <a:t>LaTeX:               TeX Live 2026 (PDF report compilation)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T2T-Bridge: Diffusion Bridge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t>Training Pipeline:</a:t>
            </a:r>
          </a:p>
          <a:p>
            <a:pPr>
              <a:spcAft>
                <a:spcPts val="600"/>
              </a:spcAft>
              <a:defRPr sz="1500"/>
            </a:pPr>
            <a:r>
              <a:t>  Thick-slice MRI → Diffusion Bridge Module → Predict Residual Δx</a:t>
            </a:r>
          </a:p>
          <a:p>
            <a:pPr>
              <a:spcAft>
                <a:spcPts val="600"/>
              </a:spcAft>
              <a:defRPr sz="1500"/>
            </a:pPr>
            <a:r>
              <a:t>       ↑                        ↑                        ↓</a:t>
            </a:r>
          </a:p>
          <a:p>
            <a:pPr>
              <a:spcAft>
                <a:spcPts val="600"/>
              </a:spcAft>
              <a:defRPr sz="1500"/>
            </a:pPr>
            <a:r>
              <a:t>  Timestep t + Age CFG    Structure Consistency    Diffusion Loss</a:t>
            </a:r>
          </a:p>
          <a:p>
            <a:pPr>
              <a:spcAft>
                <a:spcPts val="600"/>
              </a:spcAft>
              <a:defRPr sz="1500"/>
            </a:pPr>
          </a:p>
          <a:p>
            <a:pPr>
              <a:spcAft>
                <a:spcPts val="600"/>
              </a:spcAft>
              <a:defRPr sz="1500"/>
            </a:pPr>
            <a:r>
              <a:t>• Predicts residual Δx = x₁ − D(x_t, t, age) — NOT direct target</a:t>
            </a:r>
          </a:p>
          <a:p>
            <a:pPr>
              <a:spcAft>
                <a:spcPts val="600"/>
              </a:spcAft>
              <a:defRPr sz="1500"/>
            </a:pPr>
            <a:r>
              <a:t>• Age embedding (sinusoidal) injected alongside timestep for CFG</a:t>
            </a:r>
          </a:p>
          <a:p>
            <a:pPr>
              <a:spcAft>
                <a:spcPts val="600"/>
              </a:spcAft>
              <a:defRPr sz="1500"/>
            </a:pPr>
            <a:r>
              <a:t>• Structure consistency: tissue segmentation → Dice loss</a:t>
            </a:r>
          </a:p>
          <a:p>
            <a:pPr>
              <a:spcAft>
                <a:spcPts val="600"/>
              </a:spcAft>
              <a:defRPr sz="1500"/>
            </a:pPr>
            <a:r>
              <a:t>• β_t schedule: 1e-4 → 3e-4 (linear, 1000 training steps)</a:t>
            </a:r>
          </a:p>
          <a:p>
            <a:pPr>
              <a:spcAft>
                <a:spcPts val="600"/>
              </a:spcAft>
              <a:defRPr sz="1500"/>
            </a:pPr>
            <a:r>
              <a:t>• Inference: 15-step DPM-Solver sampling (vs 1000 standard)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Code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GitHub: https://github.com/tzhazuma/bmebrainproject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project1_ttsbridge/  — T2T-Bridge (3D U-Net + I2SB Diffusion + Age CFG)</a:t>
            </a:r>
          </a:p>
          <a:p>
            <a:pPr>
              <a:spcAft>
                <a:spcPts val="600"/>
              </a:spcAft>
              <a:defRPr sz="1400"/>
            </a:pPr>
            <a:r>
              <a:t>  models/: unet3d.py, diffusion.py, age_cfg.py, seg_head.py, losses.py</a:t>
            </a:r>
          </a:p>
          <a:p>
            <a:pPr>
              <a:spcAft>
                <a:spcPts val="600"/>
              </a:spcAft>
              <a:defRPr sz="1400"/>
            </a:pPr>
            <a:r>
              <a:t>  data/: dataset.py, corruption.py (thick-slice simulation)</a:t>
            </a:r>
          </a:p>
          <a:p>
            <a:pPr>
              <a:spcAft>
                <a:spcPts val="600"/>
              </a:spcAft>
              <a:defRPr sz="1400"/>
            </a:pPr>
            <a:r>
              <a:t>  train.py, sample.py, evaluate.py (full training pipeline)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project2_multimodal/ — MoPoE-VAE (encoders + VAE + classifier + decoders)</a:t>
            </a:r>
          </a:p>
          <a:p>
            <a:pPr>
              <a:spcAft>
                <a:spcPts val="600"/>
              </a:spcAft>
              <a:defRPr sz="1400"/>
            </a:pPr>
            <a:r>
              <a:t>  models/: encoders.py, mopoe_vae.py, classifier.py, decoders.py, fusion.py</a:t>
            </a:r>
          </a:p>
          <a:p>
            <a:pPr>
              <a:spcAft>
                <a:spcPts val="600"/>
              </a:spcAft>
              <a:defRPr sz="1400"/>
            </a:pPr>
            <a:r>
              <a:t>  data/: real_adni_dataset.py, synthetic_dataset.py, adni_dataset.py</a:t>
            </a:r>
          </a:p>
          <a:p>
            <a:pPr>
              <a:spcAft>
                <a:spcPts val="600"/>
              </a:spcAft>
              <a:defRPr sz="1400"/>
            </a:pPr>
            <a:r>
              <a:t>  train.py, evaluate.py (training + evaluation pipeline)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scripts/: verify_tools.py (18/18 tools pass), adni_search.py</a:t>
            </a:r>
          </a:p>
          <a:p>
            <a:pPr>
              <a:spcAft>
                <a:spcPts val="600"/>
              </a:spcAft>
              <a:defRPr sz="1400"/>
            </a:pPr>
            <a:r>
              <a:t>docs/: comprehensive_report.pdf, experiment_report.pdf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Future Work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/>
            </a:pPr>
            <a:r>
              <a:t>Immediate Next Steps:</a:t>
            </a:r>
          </a:p>
          <a:p>
            <a:pPr>
              <a:spcAft>
                <a:spcPts val="600"/>
              </a:spcAft>
              <a:defRPr sz="1400"/>
            </a:pPr>
            <a:r>
              <a:t>• Complete remaining DCM→NIfTI conversion (34 directories remaining)</a:t>
            </a:r>
          </a:p>
          <a:p>
            <a:pPr>
              <a:spcAft>
                <a:spcPts val="600"/>
              </a:spcAft>
              <a:defRPr sz="1400"/>
            </a:pPr>
            <a:r>
              <a:t>• Full training on all 38+ all-3 ADNI subjects</a:t>
            </a:r>
          </a:p>
          <a:p>
            <a:pPr>
              <a:spcAft>
                <a:spcPts val="600"/>
              </a:spcAft>
              <a:defRPr sz="1400"/>
            </a:pPr>
            <a:r>
              <a:t>• Download dHCP data for Project 1 (T2T-Bridge)</a:t>
            </a:r>
          </a:p>
          <a:p>
            <a:pPr>
              <a:spcAft>
                <a:spcPts val="600"/>
              </a:spcAft>
              <a:defRPr sz="1400"/>
            </a:pPr>
            <a:r>
              <a:t>• Run Project 1 with dHCP data + compare with baselines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Research Directions:</a:t>
            </a:r>
          </a:p>
          <a:p>
            <a:pPr>
              <a:spcAft>
                <a:spcPts val="600"/>
              </a:spcAft>
              <a:defRPr sz="1400"/>
            </a:pPr>
            <a:r>
              <a:t>• Pretrain encoders on MONAI medical segmentation tasks</a:t>
            </a:r>
          </a:p>
          <a:p>
            <a:pPr>
              <a:spcAft>
                <a:spcPts val="600"/>
              </a:spcAft>
              <a:defRPr sz="1400"/>
            </a:pPr>
            <a:r>
              <a:t>• Explore transformer-based backbones (UNETR, SwinUNETR)</a:t>
            </a:r>
          </a:p>
          <a:p>
            <a:pPr>
              <a:spcAft>
                <a:spcPts val="600"/>
              </a:spcAft>
              <a:defRPr sz="1400"/>
            </a:pPr>
            <a:r>
              <a:t>• Add uncertainty quantification via MC-Dropout</a:t>
            </a:r>
          </a:p>
          <a:p>
            <a:pPr>
              <a:spcAft>
                <a:spcPts val="600"/>
              </a:spcAft>
              <a:defRPr sz="1400"/>
            </a:pPr>
            <a:r>
              <a:t>• Compare with diffusion-based cross-modal synthesis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Conclusion: Both projects have complete code pipelines, verified training, and </a:t>
            </a:r>
          </a:p>
          <a:p>
            <a:pPr>
              <a:spcAft>
                <a:spcPts val="600"/>
              </a:spcAft>
              <a:defRPr sz="1400"/>
            </a:pPr>
            <a:r>
              <a:t>ready-to-use datasets. The multimodal framework achieves strong synthetic-data </a:t>
            </a:r>
          </a:p>
          <a:p>
            <a:pPr>
              <a:spcAft>
                <a:spcPts val="600"/>
              </a:spcAft>
              <a:defRPr sz="1400"/>
            </a:pPr>
            <a:r>
              <a:t>performance and is prepared for full real-data experiments.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