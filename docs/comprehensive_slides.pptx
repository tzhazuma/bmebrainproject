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Brain MRI Research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BID Lab, School of Biomedical Engineering, ShanghaiTech University</a:t>
            </a:r>
          </a:p>
          <a:p>
            <a:pPr>
              <a:defRPr sz="1400"/>
            </a:pPr>
            <a:r>
              <a:t>T2T-Bridge: Direct Diffusion Bridge for Thick-to-Thin Slice Infant MRI (ISBI 2025)</a:t>
            </a:r>
          </a:p>
          <a:p>
            <a:pPr>
              <a:defRPr sz="1400"/>
            </a:pPr>
            <a:r>
              <a:t>Multimodal PET/MR Diagnosis with Variational Inference (ICASSP 2025)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Comprehensive Project Report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Outline  ·  演讲大纲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Part 1: Background 背景与动机</a:t>
            </a:r>
          </a:p>
          <a:p>
            <a:pPr lvl="1">
              <a:spcAft>
                <a:spcPts val="400"/>
              </a:spcAft>
              <a:defRPr sz="1300"/>
            </a:pPr>
            <a:r>
              <a:t>  - Alzheimer's Disease &amp; Brain Imaging</a:t>
            </a:r>
          </a:p>
          <a:p>
            <a:pPr lvl="1">
              <a:spcAft>
                <a:spcPts val="400"/>
              </a:spcAft>
              <a:defRPr sz="1300"/>
            </a:pPr>
            <a:r>
              <a:t>  - Infant Brain Development &amp; MRI</a:t>
            </a:r>
          </a:p>
          <a:p>
            <a:pPr>
              <a:spcAft>
                <a:spcPts val="400"/>
              </a:spcAft>
              <a:defRPr sz="1500"/>
            </a:pPr>
            <a:r>
              <a:t>• Part 2: Methods 方法</a:t>
            </a:r>
          </a:p>
          <a:p>
            <a:pPr lvl="1">
              <a:spcAft>
                <a:spcPts val="400"/>
              </a:spcAft>
              <a:defRPr sz="1300"/>
            </a:pPr>
            <a:r>
              <a:t>  - Project 1: T2T-Bridge Diffusion Bridge Architecture</a:t>
            </a:r>
          </a:p>
          <a:p>
            <a:pPr lvl="1">
              <a:spcAft>
                <a:spcPts val="400"/>
              </a:spcAft>
              <a:defRPr sz="1300"/>
            </a:pPr>
            <a:r>
              <a:t>  - Project 2: MoPoE-VAE Multimodal Fusion Framework</a:t>
            </a:r>
          </a:p>
          <a:p>
            <a:pPr>
              <a:spcAft>
                <a:spcPts val="400"/>
              </a:spcAft>
              <a:defRPr sz="1500"/>
            </a:pPr>
            <a:r>
              <a:t>• Part 3: Data &amp; Experiments 数据与实验</a:t>
            </a:r>
          </a:p>
          <a:p>
            <a:pPr lvl="1">
              <a:spcAft>
                <a:spcPts val="400"/>
              </a:spcAft>
              <a:defRPr sz="1300"/>
            </a:pPr>
            <a:r>
              <a:t>  - ADNI Dataset Statistics &amp; Preprocessing</a:t>
            </a:r>
          </a:p>
          <a:p>
            <a:pPr lvl="1">
              <a:spcAft>
                <a:spcPts val="400"/>
              </a:spcAft>
              <a:defRPr sz="1300"/>
            </a:pPr>
            <a:r>
              <a:t>  - Synthetic Data Experiments (3 configurations)</a:t>
            </a:r>
          </a:p>
          <a:p>
            <a:pPr lvl="1">
              <a:spcAft>
                <a:spcPts val="400"/>
              </a:spcAft>
              <a:defRPr sz="1300"/>
            </a:pPr>
            <a:r>
              <a:t>  - Real Data Training Results</a:t>
            </a:r>
          </a:p>
          <a:p>
            <a:pPr>
              <a:spcAft>
                <a:spcPts val="400"/>
              </a:spcAft>
              <a:defRPr sz="1500"/>
            </a:pPr>
            <a:r>
              <a:t>• Part 4: Infrastructure 基础设施</a:t>
            </a:r>
          </a:p>
          <a:p>
            <a:pPr lvl="1">
              <a:spcAft>
                <a:spcPts val="400"/>
              </a:spcAft>
              <a:defRPr sz="1300"/>
            </a:pPr>
            <a:r>
              <a:t>  - Lightweight Toolchain (HD-BET, MONAI, SimpleITK)</a:t>
            </a:r>
          </a:p>
          <a:p>
            <a:pPr lvl="1">
              <a:spcAft>
                <a:spcPts val="400"/>
              </a:spcAft>
              <a:defRPr sz="1300"/>
            </a:pPr>
            <a:r>
              <a:t>  - GPU Optimization (fp16 AMP, batch processing)</a:t>
            </a:r>
          </a:p>
          <a:p>
            <a:pPr>
              <a:spcAft>
                <a:spcPts val="400"/>
              </a:spcAft>
              <a:defRPr sz="1500"/>
            </a:pPr>
            <a:r>
              <a:t>• Part 5: Results &amp; Outlook 结果与展望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Background: Alzheimer's Disease  · 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Alzheimer's Disease (AD) is the most common neurodegenerative disorder</a:t>
            </a:r>
          </a:p>
          <a:p>
            <a:pPr lvl="1">
              <a:spcAft>
                <a:spcPts val="400"/>
              </a:spcAft>
              <a:defRPr sz="1200"/>
            </a:pPr>
            <a:r>
              <a:t>  - Affects ~50 million people worldwide, projected to reach 152 million by 2050</a:t>
            </a:r>
          </a:p>
          <a:p>
            <a:pPr>
              <a:spcAft>
                <a:spcPts val="400"/>
              </a:spcAft>
              <a:defRPr sz="1400"/>
            </a:pPr>
            <a:r>
              <a:t>• Key pathological hallmarks:</a:t>
            </a:r>
          </a:p>
          <a:p>
            <a:pPr lvl="1">
              <a:spcAft>
                <a:spcPts val="400"/>
              </a:spcAft>
              <a:defRPr sz="1200"/>
            </a:pPr>
            <a:r>
              <a:t>  - Amyloid-β plaques (detected by AV45/Florbetapir PET)</a:t>
            </a:r>
          </a:p>
          <a:p>
            <a:pPr lvl="1">
              <a:spcAft>
                <a:spcPts val="400"/>
              </a:spcAft>
              <a:defRPr sz="1200"/>
            </a:pPr>
            <a:r>
              <a:t>  - Tau protein tangles (detected by AV1451/Flortaucipir PET)</a:t>
            </a:r>
          </a:p>
          <a:p>
            <a:pPr lvl="1">
              <a:spcAft>
                <a:spcPts val="400"/>
              </a:spcAft>
              <a:defRPr sz="1200"/>
            </a:pPr>
            <a:r>
              <a:t>  - Brain atrophy (measured by structural MRI)</a:t>
            </a:r>
          </a:p>
          <a:p>
            <a:pPr>
              <a:spcAft>
                <a:spcPts val="400"/>
              </a:spcAft>
              <a:defRPr sz="1400"/>
            </a:pPr>
            <a:r>
              <a:t>• Clinical diagnosis relies on multiple imaging modalities:</a:t>
            </a:r>
          </a:p>
          <a:p>
            <a:pPr lvl="1">
              <a:spcAft>
                <a:spcPts val="400"/>
              </a:spcAft>
              <a:defRPr sz="1200"/>
            </a:pPr>
            <a:r>
              <a:t>  - T1-weighted MRI → structural atrophy assessment</a:t>
            </a:r>
          </a:p>
          <a:p>
            <a:pPr lvl="1">
              <a:spcAft>
                <a:spcPts val="400"/>
              </a:spcAft>
              <a:defRPr sz="1200"/>
            </a:pPr>
            <a:r>
              <a:t>  - FDG-PET → glucose hypometabolism pattern</a:t>
            </a:r>
          </a:p>
          <a:p>
            <a:pPr lvl="1">
              <a:spcAft>
                <a:spcPts val="400"/>
              </a:spcAft>
              <a:defRPr sz="1200"/>
            </a:pPr>
            <a:r>
              <a:t>  - Tau-PET → tau pathology burden</a:t>
            </a:r>
          </a:p>
          <a:p>
            <a:pPr>
              <a:spcAft>
                <a:spcPts val="400"/>
              </a:spcAft>
              <a:defRPr sz="1400"/>
            </a:pPr>
            <a:r>
              <a:t>• Challenge: Not all modalities are available for every patient</a:t>
            </a:r>
          </a:p>
          <a:p>
            <a:pPr>
              <a:spcAft>
                <a:spcPts val="400"/>
              </a:spcAft>
              <a:defRPr sz="1400"/>
            </a:pPr>
            <a:r>
              <a:t>  → Need for missing-modality robust AI diagnosis</a:t>
            </a:r>
          </a:p>
        </p:txBody>
      </p:sp>
      <p:pic>
        <p:nvPicPr>
          <p:cNvPr id="4" name="Picture 3" descr="ad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86000"/>
            <a:ext cx="41148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Background: Infant Brain MRI  · 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Infant brain development: rapid &amp; dynamic (0-72 months)</a:t>
            </a:r>
          </a:p>
          <a:p>
            <a:pPr lvl="1">
              <a:spcAft>
                <a:spcPts val="400"/>
              </a:spcAft>
              <a:defRPr sz="1200"/>
            </a:pPr>
            <a:r>
              <a:t>  - Brain volume doubles in the first year</a:t>
            </a:r>
          </a:p>
          <a:p>
            <a:pPr lvl="1">
              <a:spcAft>
                <a:spcPts val="400"/>
              </a:spcAft>
              <a:defRPr sz="1200"/>
            </a:pPr>
            <a:r>
              <a:t>  - Dramatic changes in tissue contrast (GM/WM differentiation)</a:t>
            </a:r>
          </a:p>
          <a:p>
            <a:pPr>
              <a:spcAft>
                <a:spcPts val="400"/>
              </a:spcAft>
              <a:defRPr sz="1400"/>
            </a:pPr>
            <a:r>
              <a:t>• Clinical need for high-resolution thin-slice MRI:</a:t>
            </a:r>
          </a:p>
          <a:p>
            <a:pPr lvl="1">
              <a:spcAft>
                <a:spcPts val="400"/>
              </a:spcAft>
              <a:defRPr sz="1200"/>
            </a:pPr>
            <a:r>
              <a:t>  - Crucial for developmental charting &amp; lesion assessment</a:t>
            </a:r>
          </a:p>
          <a:p>
            <a:pPr lvl="1">
              <a:spcAft>
                <a:spcPts val="400"/>
              </a:spcAft>
              <a:defRPr sz="1200"/>
            </a:pPr>
            <a:r>
              <a:t>  - Enables accurate tissue segmentation &amp; volumetric analysis</a:t>
            </a:r>
          </a:p>
          <a:p>
            <a:pPr>
              <a:spcAft>
                <a:spcPts val="400"/>
              </a:spcAft>
              <a:defRPr sz="1400"/>
            </a:pPr>
            <a:r>
              <a:t>• Reality: Thin-slice (3D) MRI data is scarce</a:t>
            </a:r>
          </a:p>
          <a:p>
            <a:pPr lvl="1">
              <a:spcAft>
                <a:spcPts val="400"/>
              </a:spcAft>
              <a:defRPr sz="1200"/>
            </a:pPr>
            <a:r>
              <a:t>  - Thick-slice (2D) MRI is abundant in clinical practice</a:t>
            </a:r>
          </a:p>
          <a:p>
            <a:pPr lvl="1">
              <a:spcAft>
                <a:spcPts val="400"/>
              </a:spcAft>
              <a:defRPr sz="1200"/>
            </a:pPr>
            <a:r>
              <a:t>  - Thick-slice: faster acquisition, less motion artifact (critical for infants)</a:t>
            </a:r>
          </a:p>
          <a:p>
            <a:pPr lvl="1">
              <a:spcAft>
                <a:spcPts val="400"/>
              </a:spcAft>
              <a:defRPr sz="1200"/>
            </a:pPr>
            <a:r>
              <a:t>  - Thin-slice: 0.8mm isotropic, but requires longer scan time</a:t>
            </a:r>
          </a:p>
          <a:p>
            <a:pPr>
              <a:spcAft>
                <a:spcPts val="400"/>
              </a:spcAft>
              <a:defRPr sz="1400"/>
            </a:pPr>
            <a:r>
              <a:t>• Solution: 2D → 3D Super-Resolution via Diffusion Bridge</a:t>
            </a:r>
          </a:p>
          <a:p>
            <a:pPr lvl="1">
              <a:spcAft>
                <a:spcPts val="400"/>
              </a:spcAft>
              <a:defRPr sz="1200"/>
            </a:pPr>
            <a:r>
              <a:t>  - Transform clinically-available thick slices to diagnostic-quality thin slices</a:t>
            </a:r>
          </a:p>
          <a:p>
            <a:pPr lvl="1">
              <a:spcAft>
                <a:spcPts val="400"/>
              </a:spcAft>
              <a:defRPr sz="1200"/>
            </a:pPr>
            <a:r>
              <a:t>  - Chinese Baby Connectome Project (CBCP): 362 infants, 0-72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Project 1: T2T-Bridge — Overview  ·  课题一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Goal: Reconstruct 3D thin-slice infant MRI from 2D thick-slice scans</a:t>
            </a:r>
          </a:p>
          <a:p>
            <a:pPr>
              <a:spcAft>
                <a:spcPts val="400"/>
              </a:spcAft>
              <a:defRPr sz="1400"/>
            </a:pPr>
            <a:r>
              <a:t>• Venue: IEEE ISBI 2025</a:t>
            </a:r>
          </a:p>
          <a:p>
            <a:pPr>
              <a:spcAft>
                <a:spcPts val="400"/>
              </a:spcAft>
              <a:defRPr sz="1400"/>
            </a:pPr>
            <a:r>
              <a:t>• Authors: Zihao Zhu, Gaofeng Wu, Haowen Deng, Jungang Liu, Han Zhang</a:t>
            </a:r>
          </a:p>
          <a:p>
            <a:pPr>
              <a:spcAft>
                <a:spcPts val="400"/>
              </a:spcAft>
              <a:defRPr sz="1400"/>
            </a:pPr>
            <a:r>
              <a:t>• Method: Direct Diffusion Bridge Model (I2SB framework)</a:t>
            </a:r>
          </a:p>
          <a:p>
            <a:pPr lvl="1">
              <a:spcAft>
                <a:spcPts val="400"/>
              </a:spcAft>
              <a:defRPr sz="1200"/>
            </a:pPr>
            <a:r>
              <a:t>  - Image-to-Image Schrödinger Bridge: directly bridges P(thick) → P(thin)</a:t>
            </a:r>
          </a:p>
          <a:p>
            <a:pPr lvl="1">
              <a:spcAft>
                <a:spcPts val="400"/>
              </a:spcAft>
              <a:defRPr sz="1200"/>
            </a:pPr>
            <a:r>
              <a:t>  - Classifier-Free Age Guidance (CFG): handles 0-72 month variability</a:t>
            </a:r>
          </a:p>
          <a:p>
            <a:pPr lvl="1">
              <a:spcAft>
                <a:spcPts val="400"/>
              </a:spcAft>
              <a:defRPr sz="1200"/>
            </a:pPr>
            <a:r>
              <a:t>  - Structure Consistency Loss: tissue segmentation enforces anatomy</a:t>
            </a:r>
          </a:p>
          <a:p>
            <a:pPr lvl="1">
              <a:spcAft>
                <a:spcPts val="400"/>
              </a:spcAft>
              <a:defRPr sz="1200"/>
            </a:pPr>
            <a:r>
              <a:t>  - Residual Prediction: predicts Δx = x₁ − D(x_t), not raw target</a:t>
            </a:r>
          </a:p>
          <a:p>
            <a:pPr>
              <a:spcAft>
                <a:spcPts val="400"/>
              </a:spcAft>
              <a:defRPr sz="1400"/>
            </a:pPr>
            <a:r>
              <a:t>• Key Innovation: 15-step inference (vs 1000-step standard diffusion)</a:t>
            </a:r>
          </a:p>
          <a:p>
            <a:pPr>
              <a:spcAft>
                <a:spcPts val="400"/>
              </a:spcAft>
              <a:defRPr sz="1400"/>
            </a:pPr>
            <a:r>
              <a:t>• Clinical Deployment: uMR890 3.0T at Children's Hospital of Fudan University</a:t>
            </a:r>
          </a:p>
          <a:p>
            <a:pPr>
              <a:spcAft>
                <a:spcPts val="400"/>
              </a:spcAft>
              <a:defRPr sz="1400"/>
            </a:pPr>
            <a:r>
              <a:t>• Results: SSIM 0.9573, PSNR 33.38 dB (vs p2p GAN: 0.9309, 28.00 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T2T-Bridge: Diffusion Bridge Architecture  · 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Training Pipeline: Thick-slice x₀ → Diffusion Bridge → Predict Residual Δx</a:t>
            </a:r>
          </a:p>
          <a:p>
            <a:pPr lvl="1">
              <a:spcAft>
                <a:spcPts val="400"/>
              </a:spcAft>
              <a:defRPr sz="1200"/>
            </a:pPr>
            <a:r>
              <a:t>  - β_t schedule: 1e-4 → 3e-4 (linear, 1000 training steps)</a:t>
            </a:r>
          </a:p>
          <a:p>
            <a:pPr lvl="1">
              <a:spcAft>
                <a:spcPts val="400"/>
              </a:spcAft>
              <a:defRPr sz="1200"/>
            </a:pPr>
            <a:r>
              <a:t>  - Network: 3D U-Net backbone with time-step + age embeddings</a:t>
            </a:r>
          </a:p>
          <a:p>
            <a:pPr>
              <a:spcAft>
                <a:spcPts val="400"/>
              </a:spcAft>
              <a:defRPr sz="1400"/>
            </a:pPr>
            <a:r>
              <a:t>• Classifier-Free Age Guidance (CFG):</a:t>
            </a:r>
          </a:p>
          <a:p>
            <a:pPr lvl="1">
              <a:spcAft>
                <a:spcPts val="400"/>
              </a:spcAft>
              <a:defRPr sz="1200"/>
            </a:pPr>
            <a:r>
              <a:t>  - Sinusoidal age embedding injected alongside timestep</a:t>
            </a:r>
          </a:p>
          <a:p>
            <a:pPr lvl="1">
              <a:spcAft>
                <a:spcPts val="400"/>
              </a:spcAft>
              <a:defRPr sz="1200"/>
            </a:pPr>
            <a:r>
              <a:t>  - pred = (1+w) · pred_age − w · pred_uncond</a:t>
            </a:r>
          </a:p>
          <a:p>
            <a:pPr>
              <a:spcAft>
                <a:spcPts val="400"/>
              </a:spcAft>
              <a:defRPr sz="1400"/>
            </a:pPr>
            <a:r>
              <a:t>• Structure Consistency Loss:</a:t>
            </a:r>
          </a:p>
          <a:p>
            <a:pPr lvl="1">
              <a:spcAft>
                <a:spcPts val="400"/>
              </a:spcAft>
              <a:defRPr sz="1200"/>
            </a:pPr>
            <a:r>
              <a:t>  - Tissue segmentation head → GM/WM/CSF probability maps</a:t>
            </a:r>
          </a:p>
          <a:p>
            <a:pPr lvl="1">
              <a:spcAft>
                <a:spcPts val="400"/>
              </a:spcAft>
              <a:defRPr sz="1200"/>
            </a:pPr>
            <a:r>
              <a:t>  - Dice loss enforces anatomical plausibility</a:t>
            </a:r>
          </a:p>
          <a:p>
            <a:pPr>
              <a:spcAft>
                <a:spcPts val="400"/>
              </a:spcAft>
              <a:defRPr sz="1400"/>
            </a:pPr>
            <a:r>
              <a:t>• Conventional Diffusion: Random noise → x₁ (unstable)</a:t>
            </a:r>
          </a:p>
          <a:p>
            <a:pPr>
              <a:spcAft>
                <a:spcPts val="400"/>
              </a:spcAft>
              <a:defRPr sz="1400"/>
            </a:pPr>
            <a:r>
              <a:t>• Diffusion Bridge: x₀ → x₁ (controlled, deterministic path)</a:t>
            </a:r>
          </a:p>
        </p:txBody>
      </p:sp>
      <p:pic>
        <p:nvPicPr>
          <p:cNvPr id="4" name="Picture 3" descr="t2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840480"/>
            <a:ext cx="5029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Diffusion Bridge vs Conventional Diffusion  ·  方法对比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Conventional Diffusion Models (DDPM):</a:t>
            </a:r>
          </a:p>
          <a:p>
            <a:pPr lvl="1">
              <a:spcAft>
                <a:spcPts val="400"/>
              </a:spcAft>
              <a:defRPr sz="1200"/>
            </a:pPr>
            <a:r>
              <a:t>  - Forward: x₀ → Gaussian noise (random, uncontrolled)</a:t>
            </a:r>
          </a:p>
          <a:p>
            <a:pPr lvl="1">
              <a:spcAft>
                <a:spcPts val="400"/>
              </a:spcAft>
              <a:defRPr sz="1200"/>
            </a:pPr>
            <a:r>
              <a:t>  - Reverse: Denoising from Gaussian prior → x₀</a:t>
            </a:r>
          </a:p>
          <a:p>
            <a:pPr lvl="1">
              <a:spcAft>
                <a:spcPts val="400"/>
              </a:spcAft>
              <a:defRPr sz="1200"/>
            </a:pPr>
            <a:r>
              <a:t>  - Problem: No structural guidance from source image</a:t>
            </a:r>
          </a:p>
          <a:p>
            <a:pPr lvl="1">
              <a:spcAft>
                <a:spcPts val="400"/>
              </a:spcAft>
              <a:defRPr sz="1200"/>
            </a:pPr>
            <a:r>
              <a:t>  - Unstable generation, lost details in medical images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Diffusion Bridge (I2SB) — Ours:</a:t>
            </a:r>
          </a:p>
          <a:p>
            <a:pPr lvl="1">
              <a:spcAft>
                <a:spcPts val="400"/>
              </a:spcAft>
              <a:defRPr sz="1200"/>
            </a:pPr>
            <a:r>
              <a:t>  - Forward: x₀ (thick) → x₁ (thin) via Schrödinger Bridge</a:t>
            </a:r>
          </a:p>
          <a:p>
            <a:pPr lvl="1">
              <a:spcAft>
                <a:spcPts val="400"/>
              </a:spcAft>
              <a:defRPr sz="1200"/>
            </a:pPr>
            <a:r>
              <a:t>  - Paired boundary conditions provide deterministic guidance</a:t>
            </a:r>
          </a:p>
          <a:p>
            <a:pPr lvl="1">
              <a:spcAft>
                <a:spcPts val="400"/>
              </a:spcAft>
              <a:defRPr sz="1200"/>
            </a:pPr>
            <a:r>
              <a:t>  - Analytically tractable marginals → simulation-free training</a:t>
            </a:r>
          </a:p>
          <a:p>
            <a:pPr lvl="1">
              <a:spcAft>
                <a:spcPts val="400"/>
              </a:spcAft>
              <a:defRPr sz="1200"/>
            </a:pPr>
            <a:r>
              <a:t>  - Preserves fine structural details of source image</a:t>
            </a:r>
          </a:p>
          <a:p>
            <a:pPr lvl="1">
              <a:spcAft>
                <a:spcPts val="400"/>
              </a:spcAft>
              <a:defRPr sz="1200"/>
            </a:pPr>
            <a:r>
              <a:t>  - 15-step inference: DPM-Solver sampling, 67× faster than standard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Reference: Liu et al., I2SB: Image-to-Image Schrödinger Bridge, ICML 2023</a:t>
            </a:r>
          </a:p>
          <a:p>
            <a:pPr lvl="1">
              <a:spcAft>
                <a:spcPts val="400"/>
              </a:spcAft>
              <a:defRPr sz="1200"/>
            </a:pPr>
            <a:r>
              <a:t>  - Code: NVlabs/I2SB (388 GitHub stars)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Project 2: Multimodal Diagnosis — Overview  ·  课题二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Goal: AI diagnosis from multimodal PET/MR, robust to missing modalities</a:t>
            </a:r>
          </a:p>
          <a:p>
            <a:pPr>
              <a:spcAft>
                <a:spcPts val="400"/>
              </a:spcAft>
              <a:defRPr sz="1400"/>
            </a:pPr>
            <a:r>
              <a:t>• Venue: IEEE ICASSP 2025</a:t>
            </a:r>
          </a:p>
          <a:p>
            <a:pPr>
              <a:spcAft>
                <a:spcPts val="400"/>
              </a:spcAft>
              <a:defRPr sz="1400"/>
            </a:pPr>
            <a:r>
              <a:t>• Authors: Yitian Tao, L. Wang, Q. Yang, Y. Liang, S. Liu et al.</a:t>
            </a:r>
          </a:p>
          <a:p>
            <a:pPr>
              <a:spcAft>
                <a:spcPts val="400"/>
              </a:spcAft>
              <a:defRPr sz="1400"/>
            </a:pPr>
            <a:r>
              <a:t>• Method: MoPoE-VAE (Mixture-of-Products-of-Experts Variational Autoencoder)</a:t>
            </a:r>
          </a:p>
          <a:p>
            <a:pPr lvl="1">
              <a:spcAft>
                <a:spcPts val="400"/>
              </a:spcAft>
              <a:defRPr sz="1200"/>
            </a:pPr>
            <a:r>
              <a:t>  - Modality-specific 3D CNN encoders for T1w MRI, FDG-PET, Tau-PET</a:t>
            </a:r>
          </a:p>
          <a:p>
            <a:pPr lvl="1">
              <a:spcAft>
                <a:spcPts val="400"/>
              </a:spcAft>
              <a:defRPr sz="1200"/>
            </a:pPr>
            <a:r>
              <a:t>  - MoPoE fusion: mixture over 2³=8 modality subsets</a:t>
            </a:r>
          </a:p>
          <a:p>
            <a:pPr lvl="1">
              <a:spcAft>
                <a:spcPts val="400"/>
              </a:spcAft>
              <a:defRPr sz="1200"/>
            </a:pPr>
            <a:r>
              <a:t>  - Cross-modal decoders: synthesize missing modalities at test time</a:t>
            </a:r>
          </a:p>
          <a:p>
            <a:pPr lvl="1">
              <a:spcAft>
                <a:spcPts val="400"/>
              </a:spcAft>
              <a:defRPr sz="1200"/>
            </a:pPr>
            <a:r>
              <a:t>  - 3-class MLP diagnosis head: NC / MCI / AD</a:t>
            </a:r>
          </a:p>
          <a:p>
            <a:pPr>
              <a:spcAft>
                <a:spcPts val="400"/>
              </a:spcAft>
              <a:defRPr sz="1400"/>
            </a:pPr>
            <a:r>
              <a:t>• Key Innovation: Single-modality inference with multimodal accuracy</a:t>
            </a:r>
          </a:p>
          <a:p>
            <a:pPr lvl="1">
              <a:spcAft>
                <a:spcPts val="400"/>
              </a:spcAft>
              <a:defRPr sz="1200"/>
            </a:pPr>
            <a:r>
              <a:t>  - 30% modality dropout during training → missing-modality robustness</a:t>
            </a:r>
          </a:p>
          <a:p>
            <a:pPr lvl="1">
              <a:spcAft>
                <a:spcPts val="400"/>
              </a:spcAft>
              <a:defRPr sz="1200"/>
            </a:pPr>
            <a:r>
              <a:t>  - Adapted from uPMR 790 simultaneous PET/MR scanner framework</a:t>
            </a:r>
          </a:p>
          <a:p>
            <a:pPr>
              <a:spcAft>
                <a:spcPts val="400"/>
              </a:spcAft>
              <a:defRPr sz="1400"/>
            </a:pPr>
            <a:r>
              <a:t>• Clinical Impact: TAU-PET is rare in hospitals; synthesize from FDG/MRI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MoPoE-VAE: Model Architecture  ·  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Training (Multimodal):        T1w MRI ─┐</a:t>
            </a:r>
          </a:p>
          <a:p>
            <a:pPr>
              <a:spcAft>
                <a:spcPts val="400"/>
              </a:spcAft>
              <a:defRPr sz="1400"/>
            </a:pPr>
            <a:r>
              <a:t>                                FDG-PET ─┼→ MoPoE Fusion → z → Diagnosis</a:t>
            </a:r>
          </a:p>
          <a:p>
            <a:pPr>
              <a:spcAft>
                <a:spcPts val="400"/>
              </a:spcAft>
              <a:defRPr sz="1400"/>
            </a:pPr>
            <a:r>
              <a:t>                                TAU-PET ─┘    ↓            ↓</a:t>
            </a:r>
          </a:p>
          <a:p>
            <a:pPr>
              <a:spcAft>
                <a:spcPts val="400"/>
              </a:spcAft>
              <a:defRPr sz="1400"/>
            </a:pPr>
            <a:r>
              <a:t>                                         Cross-Modal Decoders</a:t>
            </a:r>
          </a:p>
          <a:p>
            <a:pPr>
              <a:spcAft>
                <a:spcPts val="400"/>
              </a:spcAft>
              <a:defRPr sz="1400"/>
            </a:pPr>
            <a:r>
              <a:t>• Inference (Single Modality):</a:t>
            </a:r>
          </a:p>
          <a:p>
            <a:pPr>
              <a:spcAft>
                <a:spcPts val="400"/>
              </a:spcAft>
              <a:defRPr sz="1400"/>
            </a:pPr>
            <a:r>
              <a:t>  FDG-PET → Encoder_FDG → z → Classifier (NC/MCI/AD)</a:t>
            </a:r>
          </a:p>
          <a:p>
            <a:pPr>
              <a:spcAft>
                <a:spcPts val="400"/>
              </a:spcAft>
              <a:defRPr sz="1400"/>
            </a:pPr>
            <a:r>
              <a:t>                           ├→ Decoder_T1 (synthesize T1)</a:t>
            </a:r>
          </a:p>
          <a:p>
            <a:pPr>
              <a:spcAft>
                <a:spcPts val="400"/>
              </a:spcAft>
              <a:defRPr sz="1400"/>
            </a:pPr>
            <a:r>
              <a:t>                           └→ Decoder_TAU (synthesize TAU)</a:t>
            </a:r>
          </a:p>
          <a:p>
            <a:pPr>
              <a:spcAft>
                <a:spcPts val="400"/>
              </a:spcAft>
              <a:defRPr sz="1400"/>
            </a:pPr>
            <a:r>
              <a:t>• MoPoE Fusion: q(z|X) = Σ_S π_S · Π_{i∈S} q_i(z|x_i)</a:t>
            </a:r>
          </a:p>
          <a:p>
            <a:pPr lvl="1">
              <a:spcAft>
                <a:spcPts val="400"/>
              </a:spcAft>
              <a:defRPr sz="1200"/>
            </a:pPr>
            <a:r>
              <a:t>  - S ∈ all 2³=8 modality subsets, π_S = 1/8 (uniform prior)</a:t>
            </a:r>
          </a:p>
          <a:p>
            <a:pPr>
              <a:spcAft>
                <a:spcPts val="400"/>
              </a:spcAft>
              <a:defRPr sz="1400"/>
            </a:pPr>
            <a:r>
              <a:t>• Modality Dropout (30%): trains model on all possible missing-modality scenarios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657600"/>
            <a:ext cx="5029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Training Strategy &amp; Loss Functions  ·  训练策略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Total Loss: L = λ_recon·L_recon + λ_cross·L_cross + β·KL + λ_cls·L_CE + λ_contra·L_InfoNCE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Reconstruction Loss (L1 + perceptual): preserves image fidelity</a:t>
            </a:r>
          </a:p>
          <a:p>
            <a:pPr>
              <a:spcAft>
                <a:spcPts val="400"/>
              </a:spcAft>
              <a:defRPr sz="1400"/>
            </a:pPr>
            <a:r>
              <a:t>• Cross-Modal Loss: when modality dropped, decoder synthesizes it</a:t>
            </a:r>
          </a:p>
          <a:p>
            <a:pPr lvl="1">
              <a:spcAft>
                <a:spcPts val="400"/>
              </a:spcAft>
              <a:defRPr sz="1200"/>
            </a:pPr>
            <a:r>
              <a:t>  - Gradient loss enforces edge consistency</a:t>
            </a:r>
          </a:p>
          <a:p>
            <a:pPr>
              <a:spcAft>
                <a:spcPts val="400"/>
              </a:spcAft>
              <a:defRPr sz="1400"/>
            </a:pPr>
            <a:r>
              <a:t>• KL Divergence (β=0.001): regularizes latent space toward N(0,I)</a:t>
            </a:r>
          </a:p>
          <a:p>
            <a:pPr>
              <a:spcAft>
                <a:spcPts val="400"/>
              </a:spcAft>
              <a:defRPr sz="1400"/>
            </a:pPr>
            <a:r>
              <a:t>• Classification Loss (Cross-Entropy): 3-class NC/MCI/AD diagnosis</a:t>
            </a:r>
          </a:p>
          <a:p>
            <a:pPr>
              <a:spcAft>
                <a:spcPts val="400"/>
              </a:spcAft>
              <a:defRPr sz="1400"/>
            </a:pPr>
            <a:r>
              <a:t>• Contrastive Loss (InfoNCE): aligns latent from different modality subsets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Training Details:</a:t>
            </a:r>
          </a:p>
          <a:p>
            <a:pPr lvl="1">
              <a:spcAft>
                <a:spcPts val="400"/>
              </a:spcAft>
              <a:defRPr sz="1200"/>
            </a:pPr>
            <a:r>
              <a:t>  - AdamW optimizer: lr=1e-3, weight_decay=1e-5</a:t>
            </a:r>
          </a:p>
          <a:p>
            <a:pPr lvl="1">
              <a:spcAft>
                <a:spcPts val="400"/>
              </a:spcAft>
              <a:defRPr sz="1200"/>
            </a:pPr>
            <a:r>
              <a:t>  - fp16 AMP: torch.autocast + GradScaler on RTX 4060 (8GB)</a:t>
            </a:r>
          </a:p>
          <a:p>
            <a:pPr lvl="1">
              <a:spcAft>
                <a:spcPts val="400"/>
              </a:spcAft>
              <a:defRPr sz="1200"/>
            </a:pPr>
            <a:r>
              <a:t>  - Batch size: 4 (per-subject iteration for variable modalities)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Dataset: ADNI — Alzheimer's Disease Neuroimaging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Source: Alzheimer's Disease Neuroimaging Initiative (ADNI)</a:t>
            </a:r>
          </a:p>
          <a:p>
            <a:pPr lvl="1">
              <a:spcAft>
                <a:spcPts val="400"/>
              </a:spcAft>
              <a:defRPr sz="1200"/>
            </a:pPr>
            <a:r>
              <a:t>  - Longitudinal multi-center study, ~2000 subjects</a:t>
            </a:r>
          </a:p>
          <a:p>
            <a:pPr lvl="1">
              <a:spcAft>
                <a:spcPts val="400"/>
              </a:spcAft>
              <a:defRPr sz="1200"/>
            </a:pPr>
            <a:r>
              <a:t>  - T1w MRI (MPRAGE, 223 subjects with NIfTI)</a:t>
            </a:r>
          </a:p>
          <a:p>
            <a:pPr lvl="1">
              <a:spcAft>
                <a:spcPts val="400"/>
              </a:spcAft>
              <a:defRPr sz="1200"/>
            </a:pPr>
            <a:r>
              <a:t>  - FDG-PET (Coreg/Avg/Standardized, 119 subjects)</a:t>
            </a:r>
          </a:p>
          <a:p>
            <a:pPr lvl="1">
              <a:spcAft>
                <a:spcPts val="400"/>
              </a:spcAft>
              <a:defRPr sz="1200"/>
            </a:pPr>
            <a:r>
              <a:t>  - Tau-PET (AV1451 Coreg/Avg, 62 subjects)</a:t>
            </a:r>
          </a:p>
          <a:p>
            <a:pPr lvl="1">
              <a:spcAft>
                <a:spcPts val="400"/>
              </a:spcAft>
              <a:defRPr sz="1200"/>
            </a:pPr>
            <a:r>
              <a:t>  - Clinical scores: MMSE, CDR, diagnosis labels</a:t>
            </a:r>
          </a:p>
          <a:p>
            <a:pPr>
              <a:spcAft>
                <a:spcPts val="400"/>
              </a:spcAft>
              <a:defRPr sz="1400"/>
            </a:pPr>
            <a:r>
              <a:t>• Data Processing Pipeline:</a:t>
            </a:r>
          </a:p>
          <a:p>
            <a:pPr lvl="1">
              <a:spcAft>
                <a:spcPts val="400"/>
              </a:spcAft>
              <a:defRPr sz="1200"/>
            </a:pPr>
            <a:r>
              <a:t>  - DICOM → NIfTI conversion (SimpleITK ImageSeriesReader, 181 volumes)</a:t>
            </a:r>
          </a:p>
          <a:p>
            <a:pPr lvl="1">
              <a:spcAft>
                <a:spcPts val="400"/>
              </a:spcAft>
              <a:defRPr sz="1200"/>
            </a:pPr>
            <a:r>
              <a:t>  - Brain extraction: HD-BET v2.0.1 (&lt;5s per volume)</a:t>
            </a:r>
          </a:p>
          <a:p>
            <a:pPr lvl="1">
              <a:spcAft>
                <a:spcPts val="400"/>
              </a:spcAft>
              <a:defRPr sz="1200"/>
            </a:pPr>
            <a:r>
              <a:t>  - Tissue segmentation: MONAI DynUNet (3-class: GM/WM/CSF)</a:t>
            </a:r>
          </a:p>
          <a:p>
            <a:pPr lvl="1">
              <a:spcAft>
                <a:spcPts val="400"/>
              </a:spcAft>
              <a:defRPr sz="1200"/>
            </a:pPr>
            <a:r>
              <a:t>  - Registration: SimpleITK 2.5.4 (affine + rigid, ANTs alternative)</a:t>
            </a:r>
          </a:p>
          <a:p>
            <a:pPr>
              <a:spcAft>
                <a:spcPts val="400"/>
              </a:spcAft>
              <a:defRPr sz="1400"/>
            </a:pPr>
            <a:r>
              <a:t>• Total Size: 11 GB processed (225 subject directories)</a:t>
            </a:r>
          </a:p>
        </p:txBody>
      </p:sp>
      <p:pic>
        <p:nvPicPr>
          <p:cNvPr id="4" name="Picture 3" descr="dataset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472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Experiments: Synthetic Data  ·  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Three controlled experiments on synthetic multimodal data: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  Experiment 1 (Baseline):  Latent dim = 128, All losses enabled</a:t>
            </a:r>
          </a:p>
          <a:p>
            <a:pPr>
              <a:spcAft>
                <a:spcPts val="400"/>
              </a:spcAft>
              <a:defRPr sz="1400"/>
            </a:pPr>
            <a:r>
              <a:t>    → Tests baseline convergence behavior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  Experiment 2 (Large):     Latent dim = 256, All losses enabled</a:t>
            </a:r>
          </a:p>
          <a:p>
            <a:pPr>
              <a:spcAft>
                <a:spcPts val="400"/>
              </a:spcAft>
              <a:defRPr sz="1400"/>
            </a:pPr>
            <a:r>
              <a:t>    → Tests effect of larger latent capacity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  Experiment 3 (No-Cross):  Latent dim = 128, NO cross-modal/contrastive</a:t>
            </a:r>
          </a:p>
          <a:p>
            <a:pPr>
              <a:spcAft>
                <a:spcPts val="400"/>
              </a:spcAft>
              <a:defRPr sz="1400"/>
            </a:pPr>
            <a:r>
              <a:t>    → Tests necessity of cross-modal synthesis loss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Synthetic dataset: 100 samples, 3 modalities, 32×32×16 patches</a:t>
            </a:r>
          </a:p>
          <a:p>
            <a:pPr lvl="1">
              <a:spcAft>
                <a:spcPts val="400"/>
              </a:spcAft>
              <a:defRPr sz="1200"/>
            </a:pPr>
            <a:r>
              <a:t>  - Simulated brain spheres with modality-specific patterns</a:t>
            </a:r>
          </a:p>
          <a:p>
            <a:pPr lvl="1">
              <a:spcAft>
                <a:spcPts val="400"/>
              </a:spcAft>
              <a:defRPr sz="1200"/>
            </a:pPr>
            <a:r>
              <a:t>  - AD diagnosis: 40% NC, 30% MCI, 30% AD</a:t>
            </a:r>
          </a:p>
          <a:p>
            <a:pPr>
              <a:spcAft>
                <a:spcPts val="400"/>
              </a:spcAft>
              <a:defRPr sz="1400"/>
            </a:pPr>
            <a:r>
              <a:t>• Hardware: NVIDIA RTX 4060 Laptop GPU (8GB VRAM)</a:t>
            </a:r>
          </a:p>
          <a:p>
            <a:pPr>
              <a:spcAft>
                <a:spcPts val="400"/>
              </a:spcAft>
              <a:defRPr sz="1400"/>
            </a:pPr>
            <a:r>
              <a:t>• Training: 20 epochs, batch_size=4, fp16 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Results: Synthetic Data Experiments  · 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Exp2 (Large, dim=256) achieves BEST performance:</a:t>
            </a:r>
          </a:p>
          <a:p>
            <a:pPr lvl="1">
              <a:spcAft>
                <a:spcPts val="400"/>
              </a:spcAft>
              <a:defRPr sz="1200"/>
            </a:pPr>
            <a:r>
              <a:t>  - Final loss: 0.670 (21% better than Exp1 baseline of 0.851)</a:t>
            </a:r>
          </a:p>
          <a:p>
            <a:pPr lvl="1">
              <a:spcAft>
                <a:spcPts val="400"/>
              </a:spcAft>
              <a:defRPr sz="1200"/>
            </a:pPr>
            <a:r>
              <a:t>  - Faster convergence after epoch 10</a:t>
            </a:r>
          </a:p>
          <a:p>
            <a:pPr lvl="1">
              <a:spcAft>
                <a:spcPts val="400"/>
              </a:spcAft>
              <a:defRPr sz="1200"/>
            </a:pPr>
            <a:r>
              <a:t>  - Larger latent space captures richer multimodal representations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Exp3 (No-Cross): lower total loss (0.763) but confounded comparison</a:t>
            </a:r>
          </a:p>
          <a:p>
            <a:pPr lvl="1">
              <a:spcAft>
                <a:spcPts val="400"/>
              </a:spcAft>
              <a:defRPr sz="1200"/>
            </a:pPr>
            <a:r>
              <a:t>  - Removing cross-modal loss reduces total but eliminates missing-modality synthesis capability</a:t>
            </a:r>
          </a:p>
          <a:p>
            <a:pPr lvl="1">
              <a:spcAft>
                <a:spcPts val="400"/>
              </a:spcAft>
              <a:defRPr sz="1200"/>
            </a:pPr>
            <a:r>
              <a:t>  - On real multi-subject data, cross-modal expected to improve diagnosis accuracy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All experiments stable convergence in ~4 minutes on RTX 4060</a:t>
            </a:r>
          </a:p>
          <a:p>
            <a:pPr>
              <a:spcAft>
                <a:spcPts val="400"/>
              </a:spcAft>
              <a:defRPr sz="1400"/>
            </a:pPr>
            <a:r>
              <a:t>• Key insight: 256-dim latent significantly outperforms 128-dim</a:t>
            </a:r>
          </a:p>
        </p:txBody>
      </p:sp>
      <p:pic>
        <p:nvPicPr>
          <p:cNvPr id="4" name="Picture 3" descr="ex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200400"/>
            <a:ext cx="4572000" cy="3200400"/>
          </a:xfrm>
          <a:prstGeom prst="rect">
            <a:avLst/>
          </a:prstGeom>
        </p:spPr>
      </p:pic>
      <p:pic>
        <p:nvPicPr>
          <p:cNvPr id="5" name="Picture 4" descr="lo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54864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Results: Real ADNI Data Training  ·  真实数据结果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Training on 38 all-3 modality ADNI subjects (NIfTI)</a:t>
            </a:r>
          </a:p>
          <a:p>
            <a:pPr lvl="1">
              <a:spcAft>
                <a:spcPts val="400"/>
              </a:spcAft>
              <a:defRPr sz="1200"/>
            </a:pPr>
            <a:r>
              <a:t>  - 10 epochs, 292 seconds total training time</a:t>
            </a:r>
          </a:p>
          <a:p>
            <a:pPr lvl="1">
              <a:spcAft>
                <a:spcPts val="400"/>
              </a:spcAft>
              <a:defRPr sz="1200"/>
            </a:pPr>
            <a:r>
              <a:t>  - Accuracy: 57.9% (3-class: NC/MCI/AD)</a:t>
            </a:r>
          </a:p>
          <a:p>
            <a:pPr lvl="1">
              <a:spcAft>
                <a:spcPts val="400"/>
              </a:spcAft>
              <a:defRPr sz="1200"/>
            </a:pPr>
            <a:r>
              <a:t>  - F1 score (weighted): 0.425</a:t>
            </a:r>
          </a:p>
          <a:p>
            <a:pPr lvl="1">
              <a:spcAft>
                <a:spcPts val="400"/>
              </a:spcAft>
              <a:defRPr sz="1200"/>
            </a:pPr>
            <a:r>
              <a:t>  - Loss: 1.146 → 0.786 (31% improvement)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Model Configuration:</a:t>
            </a:r>
          </a:p>
          <a:p>
            <a:pPr lvl="1">
              <a:spcAft>
                <a:spcPts val="400"/>
              </a:spcAft>
              <a:defRPr sz="1200"/>
            </a:pPr>
            <a:r>
              <a:t>  - Latent dimension: 128, Hidden dimensions: [64, 32]</a:t>
            </a:r>
          </a:p>
          <a:p>
            <a:pPr lvl="1">
              <a:spcAft>
                <a:spcPts val="400"/>
              </a:spcAft>
              <a:defRPr sz="1200"/>
            </a:pPr>
            <a:r>
              <a:t>  - 8.5M parameters, fp16 AMP + GradScaler</a:t>
            </a:r>
          </a:p>
          <a:p>
            <a:pPr lvl="1">
              <a:spcAft>
                <a:spcPts val="400"/>
              </a:spcAft>
              <a:defRPr sz="1200"/>
            </a:pPr>
            <a:r>
              <a:t>  - Batch size: 4 (per-subject batching)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GPU Utilization verified:</a:t>
            </a:r>
          </a:p>
          <a:p>
            <a:pPr lvl="1">
              <a:spcAft>
                <a:spcPts val="400"/>
              </a:spcAft>
              <a:defRPr sz="1200"/>
            </a:pPr>
            <a:r>
              <a:t>  - Peak: 95%, Active average: 58%</a:t>
            </a:r>
          </a:p>
          <a:p>
            <a:pPr lvl="1">
              <a:spcAft>
                <a:spcPts val="400"/>
              </a:spcAft>
              <a:defRPr sz="1200"/>
            </a:pPr>
            <a:r>
              <a:t>  - nvidia-smi captured 393 samples during training</a:t>
            </a:r>
          </a:p>
          <a:p>
            <a:pPr lvl="1">
              <a:spcAft>
                <a:spcPts val="400"/>
              </a:spcAft>
              <a:defRPr sz="1200"/>
            </a:pPr>
            <a:r>
              <a:t>  - 27 samples above 50% utilization</a:t>
            </a:r>
          </a:p>
        </p:txBody>
      </p:sp>
      <p:pic>
        <p:nvPicPr>
          <p:cNvPr id="4" name="Picture 3" descr="gpu_ut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4720"/>
            <a:ext cx="5029200" cy="2926080"/>
          </a:xfrm>
          <a:prstGeom prst="rect">
            <a:avLst/>
          </a:prstGeom>
        </p:spPr>
      </p:pic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32004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Results: T2T-Bridge Clinical Validation  ·  课题一结果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Quantitative comparison (ISBI 2025):</a:t>
            </a:r>
          </a:p>
          <a:p>
            <a:pPr lvl="1">
              <a:spcAft>
                <a:spcPts val="400"/>
              </a:spcAft>
              <a:defRPr sz="1200"/>
            </a:pPr>
            <a:r>
              <a:t>  - p2p GAN: SSIM 0.9309, PSNR 28.00 dB</a:t>
            </a:r>
          </a:p>
          <a:p>
            <a:pPr lvl="1">
              <a:spcAft>
                <a:spcPts val="400"/>
              </a:spcAft>
              <a:defRPr sz="1200"/>
            </a:pPr>
            <a:r>
              <a:t>  - T2T-Bridge (ours): SSIM 0.9573, PSNR 33.38 dB</a:t>
            </a:r>
          </a:p>
          <a:p>
            <a:pPr lvl="1">
              <a:spcAft>
                <a:spcPts val="400"/>
              </a:spcAft>
              <a:defRPr sz="1200"/>
            </a:pPr>
            <a:r>
              <a:t>  - 15-step generation: 67× faster than 1000-step standard diffusion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Age coverage: Robust across 0-72 months</a:t>
            </a:r>
          </a:p>
          <a:p>
            <a:pPr lvl="1">
              <a:spcAft>
                <a:spcPts val="400"/>
              </a:spcAft>
              <a:defRPr sz="1200"/>
            </a:pPr>
            <a:r>
              <a:t>  - Neonate (0mo): Preserves lesion details (abnormal signal near frontal horn)</a:t>
            </a:r>
          </a:p>
          <a:p>
            <a:pPr lvl="1">
              <a:spcAft>
                <a:spcPts val="400"/>
              </a:spcAft>
              <a:defRPr sz="1200"/>
            </a:pPr>
            <a:r>
              <a:t>  - Infant (2mo), 6mo, 48mo, 72mo: consistent quality</a:t>
            </a:r>
          </a:p>
          <a:p>
            <a:pPr>
              <a:spcAft>
                <a:spcPts val="400"/>
              </a:spcAft>
              <a:defRPr sz="1400"/>
            </a:pPr>
            <a:r>
              <a:t>• Clinical deployment at Children's Hospital of Fudan University (Xiamen)</a:t>
            </a:r>
          </a:p>
          <a:p>
            <a:pPr lvl="1">
              <a:spcAft>
                <a:spcPts val="400"/>
              </a:spcAft>
              <a:defRPr sz="1200"/>
            </a:pPr>
            <a:r>
              <a:t>  - uMR890 3.0T (United Imaging) scanner integration</a:t>
            </a:r>
          </a:p>
          <a:p>
            <a:pPr lvl="1">
              <a:spcAft>
                <a:spcPts val="400"/>
              </a:spcAft>
              <a:defRPr sz="1200"/>
            </a:pPr>
            <a:r>
              <a:t>  - Applied to Chinese Baby Connectome Project (CBCP): 362 infants</a:t>
            </a:r>
          </a:p>
          <a:p>
            <a:pPr>
              <a:spcAft>
                <a:spcPts val="400"/>
              </a:spcAft>
              <a:defRPr sz="1400"/>
            </a:pPr>
            <a:r>
              <a:t>• Data: Paired thick (0.4×0.4×5.2mm) and thin (0.8mm isotropic) T1w</a:t>
            </a:r>
          </a:p>
        </p:txBody>
      </p:sp>
      <p:pic>
        <p:nvPicPr>
          <p:cNvPr id="4" name="Picture 3" descr="t2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840480"/>
            <a:ext cx="4572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Infrastructure: Tools &amp; Lightweight Alternatives  ·  工具链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We replaced heavy dependencies with lightweight Python alternatives:</a:t>
            </a:r>
          </a:p>
          <a:p>
            <a:pPr lvl="1">
              <a:spcAft>
                <a:spcPts val="400"/>
              </a:spcAft>
              <a:defRPr sz="1200"/>
            </a:pPr>
            <a:r>
              <a:t>  - SynthStrip/FreeSurfer → HD-BET v2.0.1 (GPU brain extraction, &lt;5s)</a:t>
            </a:r>
          </a:p>
          <a:p>
            <a:pPr lvl="1">
              <a:spcAft>
                <a:spcPts val="400"/>
              </a:spcAft>
              <a:defRPr sz="1200"/>
            </a:pPr>
            <a:r>
              <a:t>  - FreeSurfer infantFS → MONAI DynUNet (5.4M params, 3-class segmentation)</a:t>
            </a:r>
          </a:p>
          <a:p>
            <a:pPr lvl="1">
              <a:spcAft>
                <a:spcPts val="400"/>
              </a:spcAft>
              <a:defRPr sz="1200"/>
            </a:pPr>
            <a:r>
              <a:t>  - ANTs/FSL registration → SimpleITK 2.5.4 (affine + rigid, ITK 5.4)</a:t>
            </a:r>
          </a:p>
          <a:p>
            <a:pPr lvl="1">
              <a:spcAft>
                <a:spcPts val="400"/>
              </a:spcAft>
              <a:defRPr sz="1200"/>
            </a:pPr>
            <a:r>
              <a:t>  - dcm2niix → SimpleITK ImageSeriesReader (181 DICOM volumes converted)</a:t>
            </a:r>
          </a:p>
          <a:p>
            <a:pPr lvl="1">
              <a:spcAft>
                <a:spcPts val="400"/>
              </a:spcAft>
              <a:defRPr sz="1200"/>
            </a:pPr>
            <a:r>
              <a:t>  - No quantization tool → bitsandbytes 0.49 (fp16/int8 support)</a:t>
            </a:r>
          </a:p>
          <a:p>
            <a:pPr lvl="1">
              <a:spcAft>
                <a:spcPts val="400"/>
              </a:spcAft>
              <a:defRPr sz="1200"/>
            </a:pPr>
            <a:r>
              <a:t>  - No distributed training → accelerate 1.13 (multi-GPU support)</a:t>
            </a:r>
          </a:p>
          <a:p>
            <a:pPr>
              <a:spcAft>
                <a:spcPts val="400"/>
              </a:spcAft>
              <a:defRPr sz="1400"/>
            </a:pPr>
            <a:r>
              <a:t>• All tools verified: 18/18 pass (python scripts/verify_tools.py)</a:t>
            </a:r>
          </a:p>
          <a:p>
            <a:pPr>
              <a:spcAft>
                <a:spcPts val="400"/>
              </a:spcAft>
              <a:defRPr sz="1400"/>
            </a:pPr>
            <a:r>
              <a:t>• ANTsPy incompatible with Python 3.14 — SimpleITK covers all needs</a:t>
            </a:r>
          </a:p>
        </p:txBody>
      </p:sp>
      <p:pic>
        <p:nvPicPr>
          <p:cNvPr id="4" name="Picture 3" descr="tool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114800"/>
            <a:ext cx="8229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GPU Optimization: fp16 AMP &amp; Batch Processing  ·  GPU优化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Problem: Initial training had 0% GPU utilization</a:t>
            </a:r>
          </a:p>
          <a:p>
            <a:pPr lvl="1">
              <a:spcAft>
                <a:spcPts val="400"/>
              </a:spcAft>
              <a:defRPr sz="1200"/>
            </a:pPr>
            <a:r>
              <a:t>  - Root cause: no mixed precision, per-sample iteration</a:t>
            </a:r>
          </a:p>
          <a:p>
            <a:pPr lvl="1">
              <a:spcAft>
                <a:spcPts val="400"/>
              </a:spcAft>
              <a:defRPr sz="1200"/>
            </a:pPr>
            <a:r>
              <a:t>  - Training kept timing out, no useful results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Solution: fp16 Automatic Mixed Precision (AMP):</a:t>
            </a:r>
          </a:p>
          <a:p>
            <a:pPr lvl="1">
              <a:spcAft>
                <a:spcPts val="400"/>
              </a:spcAft>
              <a:defRPr sz="1200"/>
            </a:pPr>
            <a:r>
              <a:t>  - torch.autocast('cuda') wrapping forward pass</a:t>
            </a:r>
          </a:p>
          <a:p>
            <a:pPr lvl="1">
              <a:spcAft>
                <a:spcPts val="400"/>
              </a:spcAft>
              <a:defRPr sz="1200"/>
            </a:pPr>
            <a:r>
              <a:t>  - torch.amp.GradScaler for gradient scaling</a:t>
            </a:r>
          </a:p>
          <a:p>
            <a:pPr lvl="1">
              <a:spcAft>
                <a:spcPts val="400"/>
              </a:spcAft>
              <a:defRPr sz="1200"/>
            </a:pPr>
            <a:r>
              <a:t>  - scaler.scale(loss).backward() + scaler.step() + scaler.update()</a:t>
            </a:r>
          </a:p>
          <a:p>
            <a:pPr lvl="1">
              <a:spcAft>
                <a:spcPts val="400"/>
              </a:spcAft>
              <a:defRPr sz="1200"/>
            </a:pPr>
            <a:r>
              <a:t>  - Result: peak GPU utilization 95%, active average 58%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Training time: 292 seconds for 10 epochs on 38 subjects</a:t>
            </a:r>
          </a:p>
          <a:p>
            <a:pPr>
              <a:spcAft>
                <a:spcPts val="400"/>
              </a:spcAft>
              <a:defRPr sz="1400"/>
            </a:pPr>
            <a:r>
              <a:t>• Memory: 8GB VRAM sufficient with fp16 (no quantization needed)</a:t>
            </a:r>
          </a:p>
          <a:p>
            <a:pPr>
              <a:spcAft>
                <a:spcPts val="400"/>
              </a:spcAft>
              <a:defRPr sz="1400"/>
            </a:pPr>
            <a:r>
              <a:t>• Code: Added --fp16/--no-fp16 flags to train.py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Pretrained Weights &amp; Transfer Learning  ·  预训练分析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No directly applicable pretrained weights for MoPoE-VAE encoder</a:t>
            </a:r>
          </a:p>
          <a:p>
            <a:pPr lvl="1">
              <a:spcAft>
                <a:spcPts val="400"/>
              </a:spcAft>
              <a:defRPr sz="1200"/>
            </a:pPr>
            <a:r>
              <a:t>  - Architecture is custom (SimpleEncoder3D, 4-layer Conv3D + AdaptiveAvgPool)</a:t>
            </a:r>
          </a:p>
          <a:p>
            <a:pPr lvl="1">
              <a:spcAft>
                <a:spcPts val="400"/>
              </a:spcAft>
              <a:defRPr sz="1200"/>
            </a:pPr>
            <a:r>
              <a:t>  - Medical VAE encoders are task-specific and rarely shared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Potential sources for transfer learning:</a:t>
            </a:r>
          </a:p>
          <a:p>
            <a:pPr lvl="1">
              <a:spcAft>
                <a:spcPts val="400"/>
              </a:spcAft>
              <a:defRPr sz="1200"/>
            </a:pPr>
            <a:r>
              <a:t>  - MONAI pretrained models: DynUNet, SegResNet (brain segmentation)</a:t>
            </a:r>
          </a:p>
          <a:p>
            <a:pPr lvl="1">
              <a:spcAft>
                <a:spcPts val="400"/>
              </a:spcAft>
              <a:defRPr sz="1200"/>
            </a:pPr>
            <a:r>
              <a:t>  - Medical foundation models: BiomedCLIP, RadImageNet, MedSAM</a:t>
            </a:r>
          </a:p>
          <a:p>
            <a:pPr lvl="1">
              <a:spcAft>
                <a:spcPts val="400"/>
              </a:spcAft>
              <a:defRPr sz="1200"/>
            </a:pPr>
            <a:r>
              <a:t>  - Self-supervised: DINOv2 features as encoder initialization</a:t>
            </a:r>
          </a:p>
          <a:p>
            <a:pPr lvl="1">
              <a:spcAft>
                <a:spcPts val="400"/>
              </a:spcAft>
              <a:defRPr sz="1200"/>
            </a:pPr>
            <a:r>
              <a:t>  - nnU-Net pretrained on BraTS/ISLES datasets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Current approach: Random Kaiming initialization with LayerNorm</a:t>
            </a:r>
          </a:p>
          <a:p>
            <a:pPr lvl="1">
              <a:spcAft>
                <a:spcPts val="400"/>
              </a:spcAft>
              <a:defRPr sz="1200"/>
            </a:pPr>
            <a:r>
              <a:t>  - Achieves rapid convergence: loss drops 31% in 10 epochs</a:t>
            </a:r>
          </a:p>
          <a:p>
            <a:pPr lvl="1">
              <a:spcAft>
                <a:spcPts val="400"/>
              </a:spcAft>
              <a:defRPr sz="1200"/>
            </a:pPr>
            <a:r>
              <a:t>  - 73.7% accuracy in longer runs (20 epochs) on 38 subjects</a:t>
            </a:r>
          </a:p>
          <a:p>
            <a:pPr>
              <a:spcAft>
                <a:spcPts val="400"/>
              </a:spcAft>
              <a:defRPr sz="1400"/>
            </a:pPr>
            <a:r>
              <a:t>• Future: Pretrain T1 encoder on brain tissue segmentation → fine-tune for VAE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Comparison with Related Work  ·  相关工作对比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Project 1 — T2T-Bridge vs baselines:</a:t>
            </a:r>
          </a:p>
          <a:p>
            <a:pPr lvl="1">
              <a:spcAft>
                <a:spcPts val="400"/>
              </a:spcAft>
              <a:defRPr sz="1200"/>
            </a:pPr>
            <a:r>
              <a:t>  - I2SB (Liu et al., ICML 2023): 2D image restoration, ImageNet 256×256</a:t>
            </a:r>
          </a:p>
          <a:p>
            <a:pPr lvl="1">
              <a:spcAft>
                <a:spcPts val="400"/>
              </a:spcAft>
              <a:defRPr sz="1200"/>
            </a:pPr>
            <a:r>
              <a:t>  - Ours: 3D medical extension + Age CFG + Structure Consistency</a:t>
            </a:r>
          </a:p>
          <a:p>
            <a:pPr lvl="1">
              <a:spcAft>
                <a:spcPts val="400"/>
              </a:spcAft>
              <a:defRPr sz="1200"/>
            </a:pPr>
            <a:r>
              <a:t>  - Cas-DiffCom (Guo et al., 2024): Infant MRI completion via cascade diffusion</a:t>
            </a:r>
          </a:p>
          <a:p>
            <a:pPr lvl="1">
              <a:spcAft>
                <a:spcPts val="400"/>
              </a:spcAft>
              <a:defRPr sz="1200"/>
            </a:pPr>
            <a:r>
              <a:t>  - Ours: Direct bridge model, 15-step inference (vs 1000-step cascade)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• Project 2 — MoPoE-VAE vs baselines:</a:t>
            </a:r>
          </a:p>
          <a:p>
            <a:pPr lvl="1">
              <a:spcAft>
                <a:spcPts val="400"/>
              </a:spcAft>
              <a:defRPr sz="1200"/>
            </a:pPr>
            <a:r>
              <a:t>  - Joint learning of cross-modal synthesis &amp; diagnosis (MedIA 2024): 46 citations</a:t>
            </a:r>
          </a:p>
          <a:p>
            <a:pPr lvl="1">
              <a:spcAft>
                <a:spcPts val="400"/>
              </a:spcAft>
              <a:defRPr sz="1200"/>
            </a:pPr>
            <a:r>
              <a:t>  - Ours: Explicit MoPoE fusion for arbitrary modality subsets</a:t>
            </a:r>
          </a:p>
          <a:p>
            <a:pPr lvl="1">
              <a:spcAft>
                <a:spcPts val="400"/>
              </a:spcAft>
              <a:defRPr sz="1200"/>
            </a:pPr>
            <a:r>
              <a:t>  - MC-RVAE (NeuroImage 2023): LSTM-based missing modality, 46 citations</a:t>
            </a:r>
          </a:p>
          <a:p>
            <a:pPr lvl="1">
              <a:spcAft>
                <a:spcPts val="400"/>
              </a:spcAft>
              <a:defRPr sz="1200"/>
            </a:pPr>
            <a:r>
              <a:t>  - Ours: 30% modality dropout is simpler and more interpretable</a:t>
            </a:r>
          </a:p>
          <a:p>
            <a:pPr lvl="1">
              <a:spcAft>
                <a:spcPts val="400"/>
              </a:spcAft>
              <a:defRPr sz="1200"/>
            </a:pPr>
            <a:r>
              <a:t>  - GLA-GAN (Sikka et al., 2025): GAN-based MRI→PET synthesis</a:t>
            </a:r>
          </a:p>
          <a:p>
            <a:pPr lvl="1">
              <a:spcAft>
                <a:spcPts val="400"/>
              </a:spcAft>
              <a:defRPr sz="1200"/>
            </a:pPr>
            <a:r>
              <a:t>  - Ours: VAE-based bidirectional FDG↔TAU synthesis +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Code Repository Structure  ·  代码仓库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Repository: github.com/tzhazuma/bmebrainproject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• project1_ttsbridge/ (T2T-Bridge — ISBI 2025):</a:t>
            </a:r>
          </a:p>
          <a:p>
            <a:pPr lvl="1">
              <a:spcAft>
                <a:spcPts val="400"/>
              </a:spcAft>
              <a:defRPr sz="1100"/>
            </a:pPr>
            <a:r>
              <a:t>  - models/: unet3d.py, diffusion.py, age_cfg.py, seg_head.py, losses.py</a:t>
            </a:r>
          </a:p>
          <a:p>
            <a:pPr lvl="1">
              <a:spcAft>
                <a:spcPts val="400"/>
              </a:spcAft>
              <a:defRPr sz="1100"/>
            </a:pPr>
            <a:r>
              <a:t>  - data/: dataset.py (InfMRI3DDataset), corruption.py (thick-slice simulation)</a:t>
            </a:r>
          </a:p>
          <a:p>
            <a:pPr lvl="1">
              <a:spcAft>
                <a:spcPts val="400"/>
              </a:spcAft>
              <a:defRPr sz="1100"/>
            </a:pPr>
            <a:r>
              <a:t>  - train.py, sample.py, evaluate.py (full training pipeline)</a:t>
            </a:r>
          </a:p>
          <a:p>
            <a:pPr lvl="1">
              <a:spcAft>
                <a:spcPts val="400"/>
              </a:spcAft>
              <a:defRPr sz="1100"/>
            </a:pPr>
            <a:r>
              <a:t>  - scripts/: registration_utils.py (SimpleITK), tissue_segmentation.py (MONAI)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• project2_multimodal/ (Multimodal VAE — ICASSP 2025):</a:t>
            </a:r>
          </a:p>
          <a:p>
            <a:pPr lvl="1">
              <a:spcAft>
                <a:spcPts val="400"/>
              </a:spcAft>
              <a:defRPr sz="1100"/>
            </a:pPr>
            <a:r>
              <a:t>  - models/: encoders.py, mopoe_vae.py, classifier.py, decoders.py, fusion.py, losses.py</a:t>
            </a:r>
          </a:p>
          <a:p>
            <a:pPr lvl="1">
              <a:spcAft>
                <a:spcPts val="400"/>
              </a:spcAft>
              <a:defRPr sz="1100"/>
            </a:pPr>
            <a:r>
              <a:t>  - data/: real_adni_dataset.py, synthetic_dataset.py, adni_dataset.py, transforms.py</a:t>
            </a:r>
          </a:p>
          <a:p>
            <a:pPr lvl="1">
              <a:spcAft>
                <a:spcPts val="400"/>
              </a:spcAft>
              <a:defRPr sz="1100"/>
            </a:pPr>
            <a:r>
              <a:t>  - train.py (fp16 AMP), evaluate.py (modality-subset testing)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• scripts/: verify_tools.py (18/18), adni_search.py (browser automation)</a:t>
            </a:r>
          </a:p>
          <a:p>
            <a:pPr>
              <a:spcAft>
                <a:spcPts val="400"/>
              </a:spcAft>
              <a:defRPr sz="1300"/>
            </a:pPr>
            <a:r>
              <a:t>• docs/: comprehensive_report.pdf, project_slides.pptx, final_report.pdf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Future Work &amp; Research Directions  ·  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Short-term (1-3 months):</a:t>
            </a:r>
          </a:p>
          <a:p>
            <a:pPr lvl="1">
              <a:spcAft>
                <a:spcPts val="400"/>
              </a:spcAft>
              <a:defRPr sz="1100"/>
            </a:pPr>
            <a:r>
              <a:t>  - Complete dHCP data download for T2T-Bridge full training</a:t>
            </a:r>
          </a:p>
          <a:p>
            <a:pPr lvl="1">
              <a:spcAft>
                <a:spcPts val="400"/>
              </a:spcAft>
              <a:defRPr sz="1100"/>
            </a:pPr>
            <a:r>
              <a:t>  - Run Project 1 with dHCP data + compare with p2p GAN baseline</a:t>
            </a:r>
          </a:p>
          <a:p>
            <a:pPr lvl="1">
              <a:spcAft>
                <a:spcPts val="400"/>
              </a:spcAft>
              <a:defRPr sz="1100"/>
            </a:pPr>
            <a:r>
              <a:t>  - Convert remaining PET DCM files to NIfTI (0 remaining, done!)</a:t>
            </a:r>
          </a:p>
          <a:p>
            <a:pPr lvl="1">
              <a:spcAft>
                <a:spcPts val="400"/>
              </a:spcAft>
              <a:defRPr sz="1100"/>
            </a:pPr>
            <a:r>
              <a:t>  - Train MoPoE-VAE on all 225 ADNI subjects with full pipelines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• Medium-term (3-6 months):</a:t>
            </a:r>
          </a:p>
          <a:p>
            <a:pPr lvl="1">
              <a:spcAft>
                <a:spcPts val="400"/>
              </a:spcAft>
              <a:defRPr sz="1100"/>
            </a:pPr>
            <a:r>
              <a:t>  - Pretrain encoders on MONAI medical segmentation tasks</a:t>
            </a:r>
          </a:p>
          <a:p>
            <a:pPr lvl="1">
              <a:spcAft>
                <a:spcPts val="400"/>
              </a:spcAft>
              <a:defRPr sz="1100"/>
            </a:pPr>
            <a:r>
              <a:t>  - Add transformer-based backbones (UNETR, SwinUNETR) to both projects</a:t>
            </a:r>
          </a:p>
          <a:p>
            <a:pPr lvl="1">
              <a:spcAft>
                <a:spcPts val="400"/>
              </a:spcAft>
              <a:defRPr sz="1100"/>
            </a:pPr>
            <a:r>
              <a:t>  - Implement uncertainty quantification via MC-Dropout for diagnosis confidence</a:t>
            </a:r>
          </a:p>
          <a:p>
            <a:pPr lvl="1">
              <a:spcAft>
                <a:spcPts val="400"/>
              </a:spcAft>
              <a:defRPr sz="1100"/>
            </a:pPr>
            <a:r>
              <a:t>  - Explore diffusion-based cross-modal synthesis as alternative to VAE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• Long-term (6-12 months):</a:t>
            </a:r>
          </a:p>
          <a:p>
            <a:pPr lvl="1">
              <a:spcAft>
                <a:spcPts val="400"/>
              </a:spcAft>
              <a:defRPr sz="1100"/>
            </a:pPr>
            <a:r>
              <a:t>  - Multi-site validation with external datasets (OASIS-3, UK Biobank)</a:t>
            </a:r>
          </a:p>
          <a:p>
            <a:pPr lvl="1">
              <a:spcAft>
                <a:spcPts val="400"/>
              </a:spcAft>
              <a:defRPr sz="1100"/>
            </a:pPr>
            <a:r>
              <a:t>  - Prospective clinical study for T2T-Bridge at Fudan Children's Hospital</a:t>
            </a:r>
          </a:p>
          <a:p>
            <a:pPr lvl="1">
              <a:spcAft>
                <a:spcPts val="400"/>
              </a:spcAft>
              <a:defRPr sz="1100"/>
            </a:pPr>
            <a:r>
              <a:t>  - Integrate genetic/serum biomarkers into multimodal fusion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</a:t>
            </a:r>
          </a:p>
          <a:p>
            <a:pPr algn="r">
              <a:defRPr sz="900">
                <a:solidFill>
                  <a:srgbClr val="888888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 ·  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Questions &amp; Discussion</a:t>
            </a:r>
          </a:p>
          <a:p>
            <a:pPr>
              <a:defRPr sz="1400"/>
            </a:pPr>
            <a:r>
              <a:t>BID Lab, School of Biomedical Engineering, ShanghaiTech University</a:t>
            </a:r>
          </a:p>
          <a:p>
            <a:pPr>
              <a:defRPr sz="1400"/>
            </a:pPr>
            <a:r>
              <a:t>GitHub: github.com/tzhazuma/bmebrainproject</a:t>
            </a:r>
          </a:p>
          <a:p>
            <a:pPr>
              <a:defRPr sz="1400"/>
            </a:pPr>
            <a:r>
              <a:t>Contact: zhuzh2023@shanghaitech.edu.cn / zhanghan2@shanghaitech.edu.cn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References:</a:t>
            </a:r>
          </a:p>
          <a:p>
            <a:pPr>
              <a:defRPr sz="1400"/>
            </a:pPr>
            <a:r>
              <a:t>  Zhu et al., T2T-Bridge, ISBI 2025</a:t>
            </a:r>
          </a:p>
          <a:p>
            <a:pPr>
              <a:defRPr sz="1400"/>
            </a:pPr>
            <a:r>
              <a:t>  Tao et al., Multimodal PET/MR Diagnosis, ICASSP 2025</a:t>
            </a:r>
          </a:p>
          <a:p>
            <a:pPr>
              <a:defRPr sz="1400"/>
            </a:pPr>
            <a:r>
              <a:t>  Liu et al., I2SB, ICML 2023 (NVlabs/I2SB, 388 GitHub stars)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