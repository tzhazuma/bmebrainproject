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Brain MRI Research Projects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  <a:p>
            <a:r>
              <a:t>BID Lab, School of Biomedical Engineering, ShanghaiTech University</a:t>
            </a:r>
          </a:p>
          <a:p>
            <a:r>
              <a:t>T2T-Bridge (ISBI 2025)  |  Multimodal PET/MR Diagnosis (ICASSP 2025)</a:t>
            </a:r>
          </a:p>
          <a:p>
            <a:r>
              <a:t>Comprehensive Project Report  ·  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Outline  ·  演讲大纲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/>
            </a:pPr>
            <a:r>
              <a:t>• Part 1: Research Background 研究背景</a:t>
            </a:r>
          </a:p>
          <a:p>
            <a:pPr>
              <a:spcAft>
                <a:spcPts val="500"/>
              </a:spcAft>
              <a:defRPr sz="1400"/>
            </a:pPr>
            <a:r>
              <a:t>  - Alzheimer's Disease &amp; Brain Imaging Challenges</a:t>
            </a:r>
          </a:p>
          <a:p>
            <a:pPr>
              <a:spcAft>
                <a:spcPts val="500"/>
              </a:spcAft>
              <a:defRPr sz="1400"/>
            </a:pPr>
            <a:r>
              <a:t>  - Infant Brain MRI: Clinical Need for Super-Resolution</a:t>
            </a:r>
          </a:p>
          <a:p>
            <a:pPr>
              <a:spcAft>
                <a:spcPts val="500"/>
              </a:spcAft>
              <a:defRPr sz="1400"/>
            </a:pPr>
            <a:r>
              <a:t>• Part 2: Methodology 方法</a:t>
            </a:r>
          </a:p>
          <a:p>
            <a:pPr>
              <a:spcAft>
                <a:spcPts val="500"/>
              </a:spcAft>
              <a:defRPr sz="1400"/>
            </a:pPr>
            <a:r>
              <a:t>  - Project 1: T2T-Bridge — Diffusion Bridge Architecture</a:t>
            </a:r>
          </a:p>
          <a:p>
            <a:pPr>
              <a:spcAft>
                <a:spcPts val="500"/>
              </a:spcAft>
              <a:defRPr sz="1400"/>
            </a:pPr>
            <a:r>
              <a:t>  - Project 2: MoPoE-VAE — Multimodal Variational Inference</a:t>
            </a:r>
          </a:p>
          <a:p>
            <a:pPr>
              <a:spcAft>
                <a:spcPts val="500"/>
              </a:spcAft>
              <a:defRPr sz="1400"/>
            </a:pPr>
            <a:r>
              <a:t>• Part 3: Dataset &amp; Experiments 数据与实验</a:t>
            </a:r>
          </a:p>
          <a:p>
            <a:pPr>
              <a:spcAft>
                <a:spcPts val="500"/>
              </a:spcAft>
              <a:defRPr sz="1400"/>
            </a:pPr>
            <a:r>
              <a:t>  - ADNI Dataset Acquisition &amp; Preprocessing</a:t>
            </a:r>
          </a:p>
          <a:p>
            <a:pPr>
              <a:spcAft>
                <a:spcPts val="500"/>
              </a:spcAft>
              <a:defRPr sz="1400"/>
            </a:pPr>
            <a:r>
              <a:t>  - Synthetic Data Experiments (3 configurations)</a:t>
            </a:r>
          </a:p>
          <a:p>
            <a:pPr>
              <a:spcAft>
                <a:spcPts val="500"/>
              </a:spcAft>
              <a:defRPr sz="1400"/>
            </a:pPr>
            <a:r>
              <a:t>  - Real ADNI Data Training Results</a:t>
            </a:r>
          </a:p>
          <a:p>
            <a:pPr>
              <a:spcAft>
                <a:spcPts val="500"/>
              </a:spcAft>
              <a:defRPr sz="1400"/>
            </a:pPr>
            <a:r>
              <a:t>• Part 4: Infrastructure &amp; Optimization 基础设施与优化</a:t>
            </a:r>
          </a:p>
          <a:p>
            <a:pPr>
              <a:spcAft>
                <a:spcPts val="500"/>
              </a:spcAft>
              <a:defRPr sz="1400"/>
            </a:pPr>
            <a:r>
              <a:t>  - Lightweight Medical Imaging Toolchain</a:t>
            </a:r>
          </a:p>
          <a:p>
            <a:pPr>
              <a:spcAft>
                <a:spcPts val="500"/>
              </a:spcAft>
              <a:defRPr sz="1400"/>
            </a:pPr>
            <a:r>
              <a:t>  - GPU Optimization (fp16 AMP, Batch Processing)</a:t>
            </a:r>
          </a:p>
          <a:p>
            <a:pPr>
              <a:spcAft>
                <a:spcPts val="500"/>
              </a:spcAft>
              <a:defRPr sz="1400"/>
            </a:pPr>
            <a:r>
              <a:t>• Part 5: Results &amp; Future Work 结果与展望</a:t>
            </a:r>
          </a:p>
          <a:p>
            <a:pPr>
              <a:spcAft>
                <a:spcPts val="500"/>
              </a:spcAft>
              <a:defRPr sz="1400"/>
            </a:pPr>
            <a:r>
              <a:t>  - Quantitative &amp; Qualitative Analysis</a:t>
            </a:r>
          </a:p>
          <a:p>
            <a:pPr>
              <a:spcAft>
                <a:spcPts val="500"/>
              </a:spcAft>
              <a:defRPr sz="1400"/>
            </a:pPr>
            <a:r>
              <a:t>  - Research Directions &amp; Clinical Translation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88888"/>
                </a:solidFill>
              </a:defRPr>
            </a:pPr>
            <a:r>
              <a:t>BID Lab, ShanghaiTech University  ·  2/35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Alzheimer's Disease: A Growing Global Challenge  ·  背景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/>
            </a:pPr>
            <a:r>
              <a:t>• Alzheimer's Disease (AD) is the most common neurodegenerative disorder worldwide</a:t>
            </a:r>
          </a:p>
          <a:p>
            <a:pPr>
              <a:spcAft>
                <a:spcPts val="500"/>
              </a:spcAft>
              <a:defRPr sz="1400"/>
            </a:pPr>
            <a:r>
              <a:t>  - Currently affects ~50 million people globally</a:t>
            </a:r>
          </a:p>
          <a:p>
            <a:pPr>
              <a:spcAft>
                <a:spcPts val="500"/>
              </a:spcAft>
              <a:defRPr sz="1400"/>
            </a:pPr>
            <a:r>
              <a:t>  - Projected to reach 152 million by 2050 (WHO estimates)</a:t>
            </a:r>
          </a:p>
          <a:p>
            <a:pPr>
              <a:spcAft>
                <a:spcPts val="500"/>
              </a:spcAft>
              <a:defRPr sz="1400"/>
            </a:pPr>
            <a:r>
              <a:t>  - 6th leading cause of death in the United States</a:t>
            </a:r>
          </a:p>
          <a:p>
            <a:pPr>
              <a:spcAft>
                <a:spcPts val="500"/>
              </a:spcAft>
              <a:defRPr sz="1400"/>
            </a:pPr>
            <a:r>
              <a:t>• Key pathological hallmarks of AD:</a:t>
            </a:r>
          </a:p>
          <a:p>
            <a:pPr>
              <a:spcAft>
                <a:spcPts val="500"/>
              </a:spcAft>
              <a:defRPr sz="1400"/>
            </a:pPr>
            <a:r>
              <a:t>  - Extracellular Amyloid-β plaques → detected by AV45/Florbetapir PET imaging</a:t>
            </a:r>
          </a:p>
          <a:p>
            <a:pPr>
              <a:spcAft>
                <a:spcPts val="500"/>
              </a:spcAft>
              <a:defRPr sz="1400"/>
            </a:pPr>
            <a:r>
              <a:t>  - Intracellular Tau protein neurofibrillary tangles → detected by AV1451/Flortaucipir PET</a:t>
            </a:r>
          </a:p>
          <a:p>
            <a:pPr>
              <a:spcAft>
                <a:spcPts val="500"/>
              </a:spcAft>
              <a:defRPr sz="1400"/>
            </a:pPr>
            <a:r>
              <a:t>  - Progressive brain atrophy → measured by structural T1-weighted MRI</a:t>
            </a:r>
          </a:p>
          <a:p>
            <a:pPr>
              <a:spcAft>
                <a:spcPts val="500"/>
              </a:spcAft>
              <a:defRPr sz="1400"/>
            </a:pPr>
            <a:r>
              <a:t>• Current clinical diagnosis relies on multiple imaging modalities:</a:t>
            </a:r>
          </a:p>
          <a:p>
            <a:pPr>
              <a:spcAft>
                <a:spcPts val="500"/>
              </a:spcAft>
              <a:defRPr sz="1400"/>
            </a:pPr>
            <a:r>
              <a:t>  - T1-weighted MRI: structural atrophy assessment (hippocampal volume, cortical thickness)</a:t>
            </a:r>
          </a:p>
          <a:p>
            <a:pPr>
              <a:spcAft>
                <a:spcPts val="500"/>
              </a:spcAft>
              <a:defRPr sz="1400"/>
            </a:pPr>
            <a:r>
              <a:t>  - FDG-PET: glucose hypometabolism pattern (AD signature: temporoparietal hypometabolism)</a:t>
            </a:r>
          </a:p>
          <a:p>
            <a:pPr>
              <a:spcAft>
                <a:spcPts val="500"/>
              </a:spcAft>
              <a:defRPr sz="1400"/>
            </a:pPr>
            <a:r>
              <a:t>  - Tau-PET: tau pathology burden and spatial distribution (Braak staging)</a:t>
            </a:r>
          </a:p>
          <a:p>
            <a:pPr>
              <a:spcAft>
                <a:spcPts val="500"/>
              </a:spcAft>
              <a:defRPr sz="1400"/>
            </a:pPr>
            <a:r>
              <a:t>• Challenge: Not all modalities are available for every patient in clinical settings</a:t>
            </a:r>
          </a:p>
          <a:p>
            <a:pPr>
              <a:spcAft>
                <a:spcPts val="500"/>
              </a:spcAft>
              <a:defRPr sz="1400"/>
            </a:pPr>
            <a:r>
              <a:t>  → Need for missing-modality robust AI diagnosis systems</a:t>
            </a:r>
          </a:p>
        </p:txBody>
      </p:sp>
      <p:pic>
        <p:nvPicPr>
          <p:cNvPr id="4" name="Picture 3" descr="ad_preval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3200400"/>
            <a:ext cx="4114800" cy="32918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88888"/>
                </a:solidFill>
              </a:defRPr>
            </a:pPr>
            <a:r>
              <a:t>BID Lab, ShanghaiTech University  ·  3/35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Infant Brain MRI: The Super-Resolution Challenge  ·  背景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/>
            </a:pPr>
            <a:r>
              <a:t>• Infant brain development is rapid and highly dynamic (0-72 months)</a:t>
            </a:r>
          </a:p>
          <a:p>
            <a:pPr>
              <a:spcAft>
                <a:spcPts val="500"/>
              </a:spcAft>
              <a:defRPr sz="1400"/>
            </a:pPr>
            <a:r>
              <a:t>  - Brain volume doubles in the first year of life</a:t>
            </a:r>
          </a:p>
          <a:p>
            <a:pPr>
              <a:spcAft>
                <a:spcPts val="500"/>
              </a:spcAft>
              <a:defRPr sz="1400"/>
            </a:pPr>
            <a:r>
              <a:t>  - Dramatic changes in tissue contrast: GM/WM differentiation evolves with myelination</a:t>
            </a:r>
          </a:p>
          <a:p>
            <a:pPr>
              <a:spcAft>
                <a:spcPts val="500"/>
              </a:spcAft>
              <a:defRPr sz="1400"/>
            </a:pPr>
            <a:r>
              <a:t>  - Cortical folding patterns develop rapidly, especially in the first 24 months</a:t>
            </a:r>
          </a:p>
          <a:p>
            <a:pPr>
              <a:spcAft>
                <a:spcPts val="500"/>
              </a:spcAft>
              <a:defRPr sz="1400"/>
            </a:pPr>
            <a:r>
              <a:t>• Clinical necessity for high-resolution thin-slice MRI:</a:t>
            </a:r>
          </a:p>
          <a:p>
            <a:pPr>
              <a:spcAft>
                <a:spcPts val="500"/>
              </a:spcAft>
              <a:defRPr sz="1400"/>
            </a:pPr>
            <a:r>
              <a:t>  - Crucial for developmental charting and trajectory analysis</a:t>
            </a:r>
          </a:p>
          <a:p>
            <a:pPr>
              <a:spcAft>
                <a:spcPts val="500"/>
              </a:spcAft>
              <a:defRPr sz="1400"/>
            </a:pPr>
            <a:r>
              <a:t>  - Enables accurate tissue segmentation and volumetric quantification</a:t>
            </a:r>
          </a:p>
          <a:p>
            <a:pPr>
              <a:spcAft>
                <a:spcPts val="500"/>
              </a:spcAft>
              <a:defRPr sz="1400"/>
            </a:pPr>
            <a:r>
              <a:t>  - Essential for early detection of developmental abnormalities</a:t>
            </a:r>
          </a:p>
          <a:p>
            <a:pPr>
              <a:spcAft>
                <a:spcPts val="500"/>
              </a:spcAft>
              <a:defRPr sz="1400"/>
            </a:pPr>
            <a:r>
              <a:t>• Reality: Thin-slice (3D, 0.8mm isotropic) MRI data is scarce in clinical practice</a:t>
            </a:r>
          </a:p>
          <a:p>
            <a:pPr>
              <a:spcAft>
                <a:spcPts val="500"/>
              </a:spcAft>
              <a:defRPr sz="1400"/>
            </a:pPr>
            <a:r>
              <a:t>  - Thick-slice (2D, 5.2mm through-plane) MRI is abundant and faster to acquire</a:t>
            </a:r>
          </a:p>
          <a:p>
            <a:pPr>
              <a:spcAft>
                <a:spcPts val="500"/>
              </a:spcAft>
              <a:defRPr sz="1400"/>
            </a:pPr>
            <a:r>
              <a:t>  - Thick-slice: shorter scan time → less motion artifact (critical for unsedated infants)</a:t>
            </a:r>
          </a:p>
          <a:p>
            <a:pPr>
              <a:spcAft>
                <a:spcPts val="500"/>
              </a:spcAft>
              <a:defRPr sz="1400"/>
            </a:pPr>
            <a:r>
              <a:t>  - But: poor through-plane resolution → blurred structures → reduced diagnostic quality</a:t>
            </a:r>
          </a:p>
          <a:p>
            <a:pPr>
              <a:spcAft>
                <a:spcPts val="500"/>
              </a:spcAft>
              <a:defRPr sz="1400"/>
            </a:pPr>
            <a:r>
              <a:t>• Solution: 2D → 3D Super-Resolution via Diffusion Bridge Model</a:t>
            </a:r>
          </a:p>
          <a:p>
            <a:pPr>
              <a:spcAft>
                <a:spcPts val="500"/>
              </a:spcAft>
              <a:defRPr sz="1400"/>
            </a:pPr>
            <a:r>
              <a:t>  - Transform clinically available thick slices into diagnostic-quality thin slices</a:t>
            </a:r>
          </a:p>
          <a:p>
            <a:pPr>
              <a:spcAft>
                <a:spcPts val="500"/>
              </a:spcAft>
              <a:defRPr sz="1400"/>
            </a:pPr>
            <a:r>
              <a:t>  - Leverage deep learning to fill the gap in through-plane resolution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88888"/>
                </a:solidFill>
              </a:defRPr>
            </a:pPr>
            <a:r>
              <a:t>BID Lab, ShanghaiTech University  ·  4/35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Project 1: T2T-Bridge — Overview  ·  课题一介绍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/>
            </a:pPr>
            <a:r>
              <a:t>• Full Title: Direct Diffusion Bridge Model for Thick-to-Thin Slice Infant MRI Reconstruction</a:t>
            </a:r>
          </a:p>
          <a:p>
            <a:pPr>
              <a:spcAft>
                <a:spcPts val="500"/>
              </a:spcAft>
              <a:defRPr sz="1300"/>
            </a:pPr>
            <a:r>
              <a:t>• Venue: IEEE ISBI 2025 (International Symposium on Biomedical Imaging)</a:t>
            </a:r>
          </a:p>
          <a:p>
            <a:pPr>
              <a:spcAft>
                <a:spcPts val="500"/>
              </a:spcAft>
              <a:defRPr sz="1300"/>
            </a:pPr>
            <a:r>
              <a:t>• Authors: Zihao Zhu, Gaofeng Wu, Haowen Deng, Jungang Liu, Han Zhang</a:t>
            </a:r>
          </a:p>
          <a:p>
            <a:pPr>
              <a:spcAft>
                <a:spcPts val="500"/>
              </a:spcAft>
              <a:defRPr sz="1300"/>
            </a:pPr>
            <a:r>
              <a:t>• Lab: BID Lab, School of Biomedical Engineering, ShanghaiTech University</a:t>
            </a:r>
          </a:p>
          <a:p>
            <a:pPr>
              <a:spcAft>
                <a:spcPts val="500"/>
              </a:spcAft>
              <a:defRPr sz="1300"/>
            </a:pPr>
            <a:r>
              <a:t>• Core Method: Image-to-Image Schrödinger Bridge (I2SB) with Age Guidance</a:t>
            </a:r>
          </a:p>
          <a:p>
            <a:pPr>
              <a:spcAft>
                <a:spcPts val="500"/>
              </a:spcAft>
              <a:defRPr sz="1300"/>
            </a:pPr>
            <a:r>
              <a:t>  - Directly bridges the distribution P(thick-slice) → P(thin-slice)</a:t>
            </a:r>
          </a:p>
          <a:p>
            <a:pPr>
              <a:spcAft>
                <a:spcPts val="500"/>
              </a:spcAft>
              <a:defRPr sz="1300"/>
            </a:pPr>
            <a:r>
              <a:t>  - No random Gaussian noise prior — deterministic, controlled diffusion path</a:t>
            </a:r>
          </a:p>
          <a:p>
            <a:pPr>
              <a:spcAft>
                <a:spcPts val="500"/>
              </a:spcAft>
              <a:defRPr sz="1300"/>
            </a:pPr>
            <a:r>
              <a:t>  - Classifier-Free Age Guidance (CFG): handles 0-72 month tissue contrast variability</a:t>
            </a:r>
          </a:p>
          <a:p>
            <a:pPr>
              <a:spcAft>
                <a:spcPts val="500"/>
              </a:spcAft>
              <a:defRPr sz="1300"/>
            </a:pPr>
            <a:r>
              <a:t>  - Structure Consistency Loss: tissue segmentation enforces anatomical plausibility</a:t>
            </a:r>
          </a:p>
          <a:p>
            <a:pPr>
              <a:spcAft>
                <a:spcPts val="500"/>
              </a:spcAft>
              <a:defRPr sz="1300"/>
            </a:pPr>
            <a:r>
              <a:t>  - Residual Prediction: predicts Δx = x₁ − D(x_t), not raw target</a:t>
            </a:r>
          </a:p>
          <a:p>
            <a:pPr>
              <a:spcAft>
                <a:spcPts val="500"/>
              </a:spcAft>
              <a:defRPr sz="1300"/>
            </a:pPr>
            <a:r>
              <a:t>• Key Innovation: 15-step inference (vs 1000-step standard diffusion → 67× speedup)</a:t>
            </a:r>
          </a:p>
          <a:p>
            <a:pPr>
              <a:spcAft>
                <a:spcPts val="500"/>
              </a:spcAft>
              <a:defRPr sz="1300"/>
            </a:pPr>
            <a:r>
              <a:t>• Clinical Deployment: uMR890 3.0T (United Imaging) at Children's Hospital of Fudan University, Xiamen</a:t>
            </a:r>
          </a:p>
          <a:p>
            <a:pPr>
              <a:spcAft>
                <a:spcPts val="500"/>
              </a:spcAft>
              <a:defRPr sz="1300"/>
            </a:pPr>
            <a:r>
              <a:t>• Data: Chinese Baby Connectome Project (CBCP): 362 infants, 0-72 months</a:t>
            </a:r>
          </a:p>
          <a:p>
            <a:pPr>
              <a:spcAft>
                <a:spcPts val="500"/>
              </a:spcAft>
              <a:defRPr sz="1300"/>
            </a:pPr>
            <a:r>
              <a:t>• Results: SSIM 0.9573, PSNR 33.38 dB (vs p2p GAN: 0.9309, 28.00 dB)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88888"/>
                </a:solidFill>
              </a:defRPr>
            </a:pPr>
            <a:r>
              <a:t>BID Lab, ShanghaiTech University  ·  5/35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Diffusion Bridge Theory: From Schrödinger Bridge to MRI  ·  理论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/>
            </a:pPr>
            <a:r>
              <a:t>• Conventional Diffusion Models (DDPM/DDIM/Score-based):</a:t>
            </a:r>
          </a:p>
          <a:p>
            <a:pPr>
              <a:spcAft>
                <a:spcPts val="500"/>
              </a:spcAft>
              <a:defRPr sz="1300"/>
            </a:pPr>
            <a:r>
              <a:t>  - Forward process: x₀ → Gaussian noise via Markov chain (random, uncontrolled)</a:t>
            </a:r>
          </a:p>
          <a:p>
            <a:pPr>
              <a:spcAft>
                <a:spcPts val="500"/>
              </a:spcAft>
              <a:defRPr sz="1300"/>
            </a:pPr>
            <a:r>
              <a:t>  - Reverse process: Iterative denoising from Gaussian prior to recover x₀</a:t>
            </a:r>
          </a:p>
          <a:p>
            <a:pPr>
              <a:spcAft>
                <a:spcPts val="500"/>
              </a:spcAft>
              <a:defRPr sz="1300"/>
            </a:pPr>
            <a:r>
              <a:t>  - Problem: No structural guidance from the source image</a:t>
            </a:r>
          </a:p>
          <a:p>
            <a:pPr>
              <a:spcAft>
                <a:spcPts val="500"/>
              </a:spcAft>
              <a:defRPr sz="1300"/>
            </a:pPr>
            <a:r>
              <a:t>  - Unstable generation: lost details in medical images with subtle tissue contrasts</a:t>
            </a:r>
          </a:p>
          <a:p>
            <a:pPr>
              <a:spcAft>
                <a:spcPts val="500"/>
              </a:spcAft>
              <a:defRPr sz="1300"/>
            </a:pPr>
          </a:p>
          <a:p>
            <a:pPr>
              <a:spcAft>
                <a:spcPts val="500"/>
              </a:spcAft>
              <a:defRPr sz="1300"/>
            </a:pPr>
            <a:r>
              <a:t>• Diffusion Bridge (I2SB) — Our Approach:</a:t>
            </a:r>
          </a:p>
          <a:p>
            <a:pPr>
              <a:spcAft>
                <a:spcPts val="500"/>
              </a:spcAft>
              <a:defRPr sz="1300"/>
            </a:pPr>
            <a:r>
              <a:t>  - Forward: x₀ (thick-slice) → x₁ (thin-slice) via Schrödinger Bridge process</a:t>
            </a:r>
          </a:p>
          <a:p>
            <a:pPr>
              <a:spcAft>
                <a:spcPts val="500"/>
              </a:spcAft>
              <a:defRPr sz="1300"/>
            </a:pPr>
            <a:r>
              <a:t>  - Paired boundary conditions: provides deterministic guidance at both ends</a:t>
            </a:r>
          </a:p>
          <a:p>
            <a:pPr>
              <a:spcAft>
                <a:spcPts val="500"/>
              </a:spcAft>
              <a:defRPr sz="1300"/>
            </a:pPr>
            <a:r>
              <a:t>  - Analytically tractable marginals: simulation-free training (huge efficiency gain)</a:t>
            </a:r>
          </a:p>
          <a:p>
            <a:pPr>
              <a:spcAft>
                <a:spcPts val="500"/>
              </a:spcAft>
              <a:defRPr sz="1300"/>
            </a:pPr>
            <a:r>
              <a:t>  - Directly optimizes the nonlinear transport between two distributions</a:t>
            </a:r>
          </a:p>
          <a:p>
            <a:pPr>
              <a:spcAft>
                <a:spcPts val="500"/>
              </a:spcAft>
              <a:defRPr sz="1300"/>
            </a:pPr>
            <a:r>
              <a:t>  - Preserves fine structural details of the source image</a:t>
            </a:r>
          </a:p>
          <a:p>
            <a:pPr>
              <a:spcAft>
                <a:spcPts val="500"/>
              </a:spcAft>
              <a:defRPr sz="1300"/>
            </a:pPr>
          </a:p>
          <a:p>
            <a:pPr>
              <a:spcAft>
                <a:spcPts val="500"/>
              </a:spcAft>
              <a:defRPr sz="1300"/>
            </a:pPr>
            <a:r>
              <a:t>• Mathematical Formulation:</a:t>
            </a:r>
          </a:p>
          <a:p>
            <a:pPr>
              <a:spcAft>
                <a:spcPts val="500"/>
              </a:spcAft>
              <a:defRPr sz="1300"/>
            </a:pPr>
            <a:r>
              <a:t>  - x_t = (1−ᾱ_t)·x₁ + √(ᾱ_t(1−ᾱ_t))·x₀ + √ᾱ_t·ε</a:t>
            </a:r>
          </a:p>
          <a:p>
            <a:pPr>
              <a:spcAft>
                <a:spcPts val="500"/>
              </a:spcAft>
              <a:defRPr sz="1300"/>
            </a:pPr>
            <a:r>
              <a:t>  - Network predicts residual: Δx = x₁ − D_θ(x_t, t, age)</a:t>
            </a:r>
          </a:p>
          <a:p>
            <a:pPr>
              <a:spcAft>
                <a:spcPts val="500"/>
              </a:spcAft>
              <a:defRPr sz="1300"/>
            </a:pPr>
            <a:r>
              <a:t>  - 15-step DPM-Solver sampling: 67× faster than standard 1000-step diffusion</a:t>
            </a:r>
          </a:p>
          <a:p>
            <a:pPr>
              <a:spcAft>
                <a:spcPts val="500"/>
              </a:spcAft>
              <a:defRPr sz="1300"/>
            </a:pPr>
            <a:r>
              <a:t>• Reference: Liu et al., I2SB: Image-to-Image Schrödinger Bridge, ICML 2023</a:t>
            </a:r>
          </a:p>
          <a:p>
            <a:pPr>
              <a:spcAft>
                <a:spcPts val="500"/>
              </a:spcAft>
              <a:defRPr sz="1300"/>
            </a:pPr>
            <a:r>
              <a:t>  - Code: NVlabs/I2SB (388 GitHub stars, NVIDIA official implementation)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88888"/>
                </a:solidFill>
              </a:defRPr>
            </a:pPr>
            <a:r>
              <a:t>BID Lab, ShanghaiTech University  ·  6/35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T2T-Bridge: Model Architecture Details  ·  模型架构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/>
            </a:pPr>
            <a:r>
              <a:t>• 3D U-Net Backbone:</a:t>
            </a:r>
          </a:p>
          <a:p>
            <a:pPr>
              <a:spcAft>
                <a:spcPts val="500"/>
              </a:spcAft>
              <a:defRPr sz="1300"/>
            </a:pPr>
            <a:r>
              <a:t>  - Input: Concatenation of [x_t, x₀] along channel dimension (2→64 base channels)</a:t>
            </a:r>
          </a:p>
          <a:p>
            <a:pPr>
              <a:spcAft>
                <a:spcPts val="500"/>
              </a:spcAft>
              <a:defRPr sz="1300"/>
            </a:pPr>
            <a:r>
              <a:t>  - Channel multipliers: [1, 2, 4, 8] with GroupNorm (8 groups) + SiLU activation</a:t>
            </a:r>
          </a:p>
          <a:p>
            <a:pPr>
              <a:spcAft>
                <a:spcPts val="500"/>
              </a:spcAft>
              <a:defRPr sz="1300"/>
            </a:pPr>
            <a:r>
              <a:t>  - Residual blocks with time-step conditioning via scale/shift modulation</a:t>
            </a:r>
          </a:p>
          <a:p>
            <a:pPr>
              <a:spcAft>
                <a:spcPts val="500"/>
              </a:spcAft>
              <a:defRPr sz="1300"/>
            </a:pPr>
          </a:p>
          <a:p>
            <a:pPr>
              <a:spcAft>
                <a:spcPts val="500"/>
              </a:spcAft>
              <a:defRPr sz="1300"/>
            </a:pPr>
            <a:r>
              <a:t>• Classifier-Free Age Guidance (CFG):</a:t>
            </a:r>
          </a:p>
          <a:p>
            <a:pPr>
              <a:spcAft>
                <a:spcPts val="500"/>
              </a:spcAft>
              <a:defRPr sz="1300"/>
            </a:pPr>
            <a:r>
              <a:t>  - Sinusoidal age embedding injected alongside timestep embedding</a:t>
            </a:r>
          </a:p>
          <a:p>
            <a:pPr>
              <a:spcAft>
                <a:spcPts val="500"/>
              </a:spcAft>
              <a:defRPr sz="1300"/>
            </a:pPr>
            <a:r>
              <a:t>  - During inference: pred = (1+w)·pred_age − w·pred_uncond</a:t>
            </a:r>
          </a:p>
          <a:p>
            <a:pPr>
              <a:spcAft>
                <a:spcPts val="500"/>
              </a:spcAft>
              <a:defRPr sz="1300"/>
            </a:pPr>
            <a:r>
              <a:t>  - Handles massive tissue contrast variability across 0-72 months</a:t>
            </a:r>
          </a:p>
          <a:p>
            <a:pPr>
              <a:spcAft>
                <a:spcPts val="500"/>
              </a:spcAft>
              <a:defRPr sz="1300"/>
            </a:pPr>
          </a:p>
          <a:p>
            <a:pPr>
              <a:spcAft>
                <a:spcPts val="500"/>
              </a:spcAft>
              <a:defRPr sz="1300"/>
            </a:pPr>
            <a:r>
              <a:t>• Structure Consistency via Tissue Segmentation:</a:t>
            </a:r>
          </a:p>
          <a:p>
            <a:pPr>
              <a:spcAft>
                <a:spcPts val="500"/>
              </a:spcAft>
              <a:defRPr sz="1300"/>
            </a:pPr>
            <a:r>
              <a:t>  - Lightweight Conv3D segmentation head → GM/WM/CSF probability maps</a:t>
            </a:r>
          </a:p>
          <a:p>
            <a:pPr>
              <a:spcAft>
                <a:spcPts val="500"/>
              </a:spcAft>
              <a:defRPr sz="1300"/>
            </a:pPr>
            <a:r>
              <a:t>  - Dice loss enforces anatomical plausibility of generated images</a:t>
            </a:r>
          </a:p>
          <a:p>
            <a:pPr>
              <a:spcAft>
                <a:spcPts val="500"/>
              </a:spcAft>
              <a:defRPr sz="1300"/>
            </a:pPr>
            <a:r>
              <a:t>  - Shared features between denoiser and segmentation networks</a:t>
            </a:r>
          </a:p>
          <a:p>
            <a:pPr>
              <a:spcAft>
                <a:spcPts val="500"/>
              </a:spcAft>
              <a:defRPr sz="1300"/>
            </a:pPr>
          </a:p>
          <a:p>
            <a:pPr>
              <a:spcAft>
                <a:spcPts val="500"/>
              </a:spcAft>
              <a:defRPr sz="1300"/>
            </a:pPr>
            <a:r>
              <a:t>• Training Details:</a:t>
            </a:r>
          </a:p>
          <a:p>
            <a:pPr>
              <a:spcAft>
                <a:spcPts val="500"/>
              </a:spcAft>
              <a:defRPr sz="1300"/>
            </a:pPr>
            <a:r>
              <a:t>  - β_t schedule: 1e-4 → 3e-4 (linear, 1000 training steps)</a:t>
            </a:r>
          </a:p>
          <a:p>
            <a:pPr>
              <a:spcAft>
                <a:spcPts val="500"/>
              </a:spcAft>
              <a:defRPr sz="1300"/>
            </a:pPr>
            <a:r>
              <a:t>  - Diffusion loss: MSE on predicted residual</a:t>
            </a:r>
          </a:p>
          <a:p>
            <a:pPr>
              <a:spcAft>
                <a:spcPts val="500"/>
              </a:spcAft>
              <a:defRPr sz="1300"/>
            </a:pPr>
            <a:r>
              <a:t>  - Total loss: L_diff + 0.1·L_dice + 0.05·L_gradient</a:t>
            </a:r>
          </a:p>
          <a:p>
            <a:pPr>
              <a:spcAft>
                <a:spcPts val="500"/>
              </a:spcAft>
              <a:defRPr sz="1300"/>
            </a:pPr>
            <a:r>
              <a:t>  - Optimizer: AdamW (lr=1e-4, weight_decay=1e-6)</a:t>
            </a:r>
          </a:p>
        </p:txBody>
      </p:sp>
      <p:pic>
        <p:nvPicPr>
          <p:cNvPr id="4" name="Picture 3" descr="t2t_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3840480"/>
            <a:ext cx="4572000" cy="2743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88888"/>
                </a:solidFill>
              </a:defRPr>
            </a:pPr>
            <a:r>
              <a:t>BID Lab, ShanghaiTech University  ·  7/35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Project 2: Multimodal PET/MR Diagnosis — Overview  ·  课题二介绍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/>
            </a:pPr>
            <a:r>
              <a:t>• Full Title: Revolutionizing Disease Diagnosis with simultaneous functional PET/MR</a:t>
            </a:r>
          </a:p>
          <a:p>
            <a:pPr>
              <a:spcAft>
                <a:spcPts val="500"/>
              </a:spcAft>
              <a:defRPr sz="1300"/>
            </a:pPr>
            <a:r>
              <a:t>  and Deeply Integrated Brain Metabolic, Hemodynamic, and Perfusion Networks</a:t>
            </a:r>
          </a:p>
          <a:p>
            <a:pPr>
              <a:spcAft>
                <a:spcPts val="500"/>
              </a:spcAft>
              <a:defRPr sz="1300"/>
            </a:pPr>
            <a:r>
              <a:t>• Venue: IEEE ICASSP 2025 (International Conference on Acoustics, Speech, and Signal Processing)</a:t>
            </a:r>
          </a:p>
          <a:p>
            <a:pPr>
              <a:spcAft>
                <a:spcPts val="500"/>
              </a:spcAft>
              <a:defRPr sz="1300"/>
            </a:pPr>
            <a:r>
              <a:t>• Authors: Yitian Tao, L. Wang, Q. Yang, Y. Liang, S. Liu et al.</a:t>
            </a:r>
          </a:p>
          <a:p>
            <a:pPr>
              <a:spcAft>
                <a:spcPts val="500"/>
              </a:spcAft>
              <a:defRPr sz="1300"/>
            </a:pPr>
            <a:r>
              <a:t>• Core Method: MoPoE-VAE (Mixture-of-Products-of-Experts Variational Autoencoder)</a:t>
            </a:r>
          </a:p>
          <a:p>
            <a:pPr>
              <a:spcAft>
                <a:spcPts val="500"/>
              </a:spcAft>
              <a:defRPr sz="1300"/>
            </a:pPr>
            <a:r>
              <a:t>  - Modality-specific 3D CNN encoders for T1w MRI, FDG-PET, Tau-PET</a:t>
            </a:r>
          </a:p>
          <a:p>
            <a:pPr>
              <a:spcAft>
                <a:spcPts val="500"/>
              </a:spcAft>
              <a:defRPr sz="1300"/>
            </a:pPr>
            <a:r>
              <a:t>  - MoPoE fusion: mathematically principled mixture over all 2³=8 modality subsets</a:t>
            </a:r>
          </a:p>
          <a:p>
            <a:pPr>
              <a:spcAft>
                <a:spcPts val="500"/>
              </a:spcAft>
              <a:defRPr sz="1300"/>
            </a:pPr>
            <a:r>
              <a:t>  - Cross-modal decoders: synthesize missing modalities at test time</a:t>
            </a:r>
          </a:p>
          <a:p>
            <a:pPr>
              <a:spcAft>
                <a:spcPts val="500"/>
              </a:spcAft>
              <a:defRPr sz="1300"/>
            </a:pPr>
            <a:r>
              <a:t>  - 3-class MLP diagnosis head with LayerNorm + Dropout: NC / MCI / AD</a:t>
            </a:r>
          </a:p>
          <a:p>
            <a:pPr>
              <a:spcAft>
                <a:spcPts val="500"/>
              </a:spcAft>
              <a:defRPr sz="1300"/>
            </a:pPr>
          </a:p>
          <a:p>
            <a:pPr>
              <a:spcAft>
                <a:spcPts val="500"/>
              </a:spcAft>
              <a:defRPr sz="1300"/>
            </a:pPr>
            <a:r>
              <a:t>• Key Innovation: Single-modality inference with multimodal-quality accuracy</a:t>
            </a:r>
          </a:p>
          <a:p>
            <a:pPr>
              <a:spcAft>
                <a:spcPts val="500"/>
              </a:spcAft>
              <a:defRPr sz="1300"/>
            </a:pPr>
            <a:r>
              <a:t>  - 30% modality dropout during training → robust to missing modalities</a:t>
            </a:r>
          </a:p>
          <a:p>
            <a:pPr>
              <a:spcAft>
                <a:spcPts val="500"/>
              </a:spcAft>
              <a:defRPr sz="1300"/>
            </a:pPr>
            <a:r>
              <a:t>  - Enables diagnosis even when only FDG-PET (or only T1w) is available</a:t>
            </a:r>
          </a:p>
          <a:p>
            <a:pPr>
              <a:spcAft>
                <a:spcPts val="500"/>
              </a:spcAft>
              <a:defRPr sz="1300"/>
            </a:pPr>
            <a:r>
              <a:t>  - Clinically feasible: no dependency on rare Tau-PET scans at inference time</a:t>
            </a:r>
          </a:p>
          <a:p>
            <a:pPr>
              <a:spcAft>
                <a:spcPts val="500"/>
              </a:spcAft>
              <a:defRPr sz="1300"/>
            </a:pPr>
          </a:p>
          <a:p>
            <a:pPr>
              <a:spcAft>
                <a:spcPts val="500"/>
              </a:spcAft>
              <a:defRPr sz="1300"/>
            </a:pPr>
            <a:r>
              <a:t>• Clinical Impact: Tau-PET is expensive and rare in most hospitals</a:t>
            </a:r>
          </a:p>
          <a:p>
            <a:pPr>
              <a:spcAft>
                <a:spcPts val="500"/>
              </a:spcAft>
              <a:defRPr sz="1300"/>
            </a:pPr>
            <a:r>
              <a:t>  - Synthesize Tau-like features from widely available FDG-PET + T1w MRI</a:t>
            </a:r>
          </a:p>
          <a:p>
            <a:pPr>
              <a:spcAft>
                <a:spcPts val="500"/>
              </a:spcAft>
              <a:defRPr sz="1300"/>
            </a:pPr>
            <a:r>
              <a:t>  - Adapted from uPMR 790 simultaneous PET/MR scanner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88888"/>
                </a:solidFill>
              </a:defRPr>
            </a:pPr>
            <a:r>
              <a:t>BID Lab, ShanghaiTech University  ·  8/35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MoPoE-VAE: Mathematical Foundation  ·  数学基础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/>
            </a:pPr>
            <a:r>
              <a:t>• Variational Autoencoder (VAE) Framework:</a:t>
            </a:r>
          </a:p>
          <a:p>
            <a:pPr>
              <a:spcAft>
                <a:spcPts val="500"/>
              </a:spcAft>
              <a:defRPr sz="1300"/>
            </a:pPr>
            <a:r>
              <a:t>  - Encoder: q_φ(z|x) → approximate posterior over latent variable z</a:t>
            </a:r>
          </a:p>
          <a:p>
            <a:pPr>
              <a:spcAft>
                <a:spcPts val="500"/>
              </a:spcAft>
              <a:defRPr sz="1300"/>
            </a:pPr>
            <a:r>
              <a:t>  - Decoder: p_θ(x|z) → reconstruct input from latent code</a:t>
            </a:r>
          </a:p>
          <a:p>
            <a:pPr>
              <a:spcAft>
                <a:spcPts val="500"/>
              </a:spcAft>
              <a:defRPr sz="1300"/>
            </a:pPr>
            <a:r>
              <a:t>  - Objective: ELBO = E_q[log p(x|z)] − KL(q_φ(z|x) || p(z))</a:t>
            </a:r>
          </a:p>
          <a:p>
            <a:pPr>
              <a:spcAft>
                <a:spcPts val="500"/>
              </a:spcAft>
              <a:defRPr sz="1300"/>
            </a:pPr>
          </a:p>
          <a:p>
            <a:pPr>
              <a:spcAft>
                <a:spcPts val="500"/>
              </a:spcAft>
              <a:defRPr sz="1300"/>
            </a:pPr>
            <a:r>
              <a:t>• MoPoE: Mixture-of-Products-of-Experts for Multimodal Fusion:</a:t>
            </a:r>
          </a:p>
          <a:p>
            <a:pPr>
              <a:spcAft>
                <a:spcPts val="500"/>
              </a:spcAft>
              <a:defRPr sz="1300"/>
            </a:pPr>
            <a:r>
              <a:t>  - Given K modalities with encoders q_i(z|x_i), the joint posterior is:</a:t>
            </a:r>
          </a:p>
          <a:p>
            <a:pPr>
              <a:spcAft>
                <a:spcPts val="500"/>
              </a:spcAft>
              <a:defRPr sz="1300"/>
            </a:pPr>
            <a:r>
              <a:t>  - q(z|X₁,...,X_K) = Σ_{S⊆{1,...,K}} π_S · Π_{i∈S} q_i(z|x_i)</a:t>
            </a:r>
          </a:p>
          <a:p>
            <a:pPr>
              <a:spcAft>
                <a:spcPts val="500"/>
              </a:spcAft>
              <a:defRPr sz="1300"/>
            </a:pPr>
            <a:r>
              <a:t>  - π_S = 1/2^K: uniform prior over all modality subsets</a:t>
            </a:r>
          </a:p>
          <a:p>
            <a:pPr>
              <a:spcAft>
                <a:spcPts val="500"/>
              </a:spcAft>
              <a:defRPr sz="1300"/>
            </a:pPr>
            <a:r>
              <a:t>  - For K=3 modalities: 8 subsets (∅, {T1}, {FDG}, {TAU}, {T1,FDG}, {T1,TAU}, {FDG,TAU}, {T1,FDG,TAU})</a:t>
            </a:r>
          </a:p>
          <a:p>
            <a:pPr>
              <a:spcAft>
                <a:spcPts val="500"/>
              </a:spcAft>
              <a:defRPr sz="1300"/>
            </a:pPr>
          </a:p>
          <a:p>
            <a:pPr>
              <a:spcAft>
                <a:spcPts val="500"/>
              </a:spcAft>
              <a:defRPr sz="1300"/>
            </a:pPr>
            <a:r>
              <a:t>• Product of Experts (PoE) for Gaussian posteriors:</a:t>
            </a:r>
          </a:p>
          <a:p>
            <a:pPr>
              <a:spcAft>
                <a:spcPts val="500"/>
              </a:spcAft>
              <a:defRPr sz="1300"/>
            </a:pPr>
            <a:r>
              <a:t>  - μ_PoE = (Σ μᵢ/σ²ᵢ) / (Σ 1/σ²ᵢ),  σ²_PoE = 1 / (Σ 1/σ²ᵢ)</a:t>
            </a:r>
          </a:p>
          <a:p>
            <a:pPr>
              <a:spcAft>
                <a:spcPts val="500"/>
              </a:spcAft>
              <a:defRPr sz="1300"/>
            </a:pPr>
            <a:r>
              <a:t>  - Natural way to combine uncertain estimates: high-confidence experts dominate</a:t>
            </a:r>
          </a:p>
          <a:p>
            <a:pPr>
              <a:spcAft>
                <a:spcPts val="500"/>
              </a:spcAft>
              <a:defRPr sz="1300"/>
            </a:pPr>
          </a:p>
          <a:p>
            <a:pPr>
              <a:spcAft>
                <a:spcPts val="500"/>
              </a:spcAft>
              <a:defRPr sz="1300"/>
            </a:pPr>
            <a:r>
              <a:t>• Advantages over alternatives:</a:t>
            </a:r>
          </a:p>
          <a:p>
            <a:pPr>
              <a:spcAft>
                <a:spcPts val="500"/>
              </a:spcAft>
              <a:defRPr sz="1300"/>
            </a:pPr>
            <a:r>
              <a:t>  - vs Mixture-of-Experts (MoE): MoPoE captures both shared and modality-specific info</a:t>
            </a:r>
          </a:p>
          <a:p>
            <a:pPr>
              <a:spcAft>
                <a:spcPts val="500"/>
              </a:spcAft>
              <a:defRPr sz="1300"/>
            </a:pPr>
            <a:r>
              <a:t>  - vs Product-of-Experts (PoE) alone: More robust when one modality has high noise</a:t>
            </a:r>
          </a:p>
          <a:p>
            <a:pPr>
              <a:spcAft>
                <a:spcPts val="500"/>
              </a:spcAft>
              <a:defRPr sz="1300"/>
            </a:pPr>
            <a:r>
              <a:t>  - vs simple concatenation: Handles arbitrary missing modality subsets naturally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88888"/>
                </a:solidFill>
              </a:defRPr>
            </a:pPr>
            <a:r>
              <a:t>BID Lab, ShanghaiTech University  ·  9/35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MoPoE-VAE: Architecture Visualization  ·  架构可视化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/>
            </a:pPr>
            <a:r>
              <a:t>Training (Multimodal):              Inference (Single Modality):</a:t>
            </a:r>
          </a:p>
          <a:p>
            <a:pPr>
              <a:spcAft>
                <a:spcPts val="500"/>
              </a:spcAft>
              <a:defRPr sz="1400"/>
            </a:pPr>
            <a:r>
              <a:t>  T1w MRI  ─┐                         FDG-PET → Encoder_FDG → z</a:t>
            </a:r>
          </a:p>
          <a:p>
            <a:pPr>
              <a:spcAft>
                <a:spcPts val="500"/>
              </a:spcAft>
              <a:defRPr sz="1400"/>
            </a:pPr>
            <a:r>
              <a:t>  FDG-PET  ─┼→ MoPoE Fusion → z       ├→ Classifier: NC / MCI / AD</a:t>
            </a:r>
          </a:p>
          <a:p>
            <a:pPr>
              <a:spcAft>
                <a:spcPts val="500"/>
              </a:spcAft>
              <a:defRPr sz="1400"/>
            </a:pPr>
            <a:r>
              <a:t>  TAU-PET  ─┘     ↓                   ├→ Decoder_T1 (synthesize T1w)</a:t>
            </a:r>
          </a:p>
          <a:p>
            <a:pPr>
              <a:spcAft>
                <a:spcPts val="500"/>
              </a:spcAft>
              <a:defRPr sz="1400"/>
            </a:pPr>
            <a:r>
              <a:t>              Diagnosis Head           └→ Decoder_TAU (synthesize TAU)</a:t>
            </a:r>
          </a:p>
          <a:p>
            <a:pPr>
              <a:spcAft>
                <a:spcPts val="500"/>
              </a:spcAft>
              <a:defRPr sz="1400"/>
            </a:pPr>
          </a:p>
          <a:p>
            <a:pPr>
              <a:spcAft>
                <a:spcPts val="500"/>
              </a:spcAft>
              <a:defRPr sz="1400"/>
            </a:pPr>
            <a:r>
              <a:t>• Modality-Specific Encoders (SimpleEncoder3D):</a:t>
            </a:r>
          </a:p>
          <a:p>
            <a:pPr>
              <a:spcAft>
                <a:spcPts val="500"/>
              </a:spcAft>
              <a:defRPr sz="1400"/>
            </a:pPr>
            <a:r>
              <a:t>  - 4-layer Conv3D with stride=2, padding=1, AdaptiveAvgPool3d</a:t>
            </a:r>
          </a:p>
          <a:p>
            <a:pPr>
              <a:spcAft>
                <a:spcPts val="500"/>
              </a:spcAft>
              <a:defRPr sz="1400"/>
            </a:pPr>
            <a:r>
              <a:t>  - Channel progression: 1→32→64→128→256</a:t>
            </a:r>
          </a:p>
          <a:p>
            <a:pPr>
              <a:spcAft>
                <a:spcPts val="500"/>
              </a:spcAft>
              <a:defRPr sz="1400"/>
            </a:pPr>
            <a:r>
              <a:t>  - Output: μ_i, log σ²_i ∈ R^L for each modality</a:t>
            </a:r>
          </a:p>
          <a:p>
            <a:pPr>
              <a:spcAft>
                <a:spcPts val="500"/>
              </a:spcAft>
              <a:defRPr sz="1400"/>
            </a:pPr>
          </a:p>
          <a:p>
            <a:pPr>
              <a:spcAft>
                <a:spcPts val="500"/>
              </a:spcAft>
              <a:defRPr sz="1400"/>
            </a:pPr>
            <a:r>
              <a:t>• Cross-Modal Decoders:</a:t>
            </a:r>
          </a:p>
          <a:p>
            <a:pPr>
              <a:spcAft>
                <a:spcPts val="500"/>
              </a:spcAft>
              <a:defRPr sz="1400"/>
            </a:pPr>
            <a:r>
              <a:t>  - 3D transposed convolution decoders with dynamic upsampling</a:t>
            </a:r>
          </a:p>
          <a:p>
            <a:pPr>
              <a:spcAft>
                <a:spcPts val="500"/>
              </a:spcAft>
              <a:defRPr sz="1400"/>
            </a:pPr>
            <a:r>
              <a:t>  - Automatically compute upsampling stages based on target spatial dimensions</a:t>
            </a:r>
          </a:p>
          <a:p>
            <a:pPr>
              <a:spcAft>
                <a:spcPts val="500"/>
              </a:spcAft>
              <a:defRPr sz="1400"/>
            </a:pPr>
            <a:r>
              <a:t>  - Output: reconstructed/synthesized image at target resolution</a:t>
            </a:r>
          </a:p>
        </p:txBody>
      </p:sp>
      <p:pic>
        <p:nvPicPr>
          <p:cNvPr id="4" name="Picture 3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3474720"/>
            <a:ext cx="5029200" cy="3200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88888"/>
                </a:solidFill>
              </a:defRPr>
            </a:pPr>
            <a:r>
              <a:t>BID Lab, ShanghaiTech University  ·  10/35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Training Strategy &amp; Loss Functions  ·  训练策略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/>
            </a:pPr>
            <a:r>
              <a:t>• Total Loss Function:</a:t>
            </a:r>
          </a:p>
          <a:p>
            <a:pPr>
              <a:spcAft>
                <a:spcPts val="500"/>
              </a:spcAft>
              <a:defRPr sz="1300"/>
            </a:pPr>
            <a:r>
              <a:t>  L_total = λ_recon·L_recon + λ_cross·L_cross + β·KL + λ_cls·L_CE + λ_contra·L_InfoNCE</a:t>
            </a:r>
          </a:p>
          <a:p>
            <a:pPr>
              <a:spcAft>
                <a:spcPts val="500"/>
              </a:spcAft>
              <a:defRPr sz="1300"/>
            </a:pPr>
          </a:p>
          <a:p>
            <a:pPr>
              <a:spcAft>
                <a:spcPts val="500"/>
              </a:spcAft>
              <a:defRPr sz="1300"/>
            </a:pPr>
            <a:r>
              <a:t>• Loss Component Details:</a:t>
            </a:r>
          </a:p>
          <a:p>
            <a:pPr>
              <a:spcAft>
                <a:spcPts val="500"/>
              </a:spcAft>
              <a:defRPr sz="1300"/>
            </a:pPr>
            <a:r>
              <a:t>  - Reconstruction Loss (L1 + Perceptual): preserves image fidelity for available modalities</a:t>
            </a:r>
          </a:p>
          <a:p>
            <a:pPr>
              <a:spcAft>
                <a:spcPts val="500"/>
              </a:spcAft>
              <a:defRPr sz="1300"/>
            </a:pPr>
            <a:r>
              <a:t>  - Cross-Modal Loss (L1 + Gradient): when a modality is dropped, decoder synthesizes it</a:t>
            </a:r>
          </a:p>
          <a:p>
            <a:pPr>
              <a:spcAft>
                <a:spcPts val="500"/>
              </a:spcAft>
              <a:defRPr sz="1300"/>
            </a:pPr>
            <a:r>
              <a:t>    · Gradient loss enforces edge consistency in synthetic images</a:t>
            </a:r>
          </a:p>
          <a:p>
            <a:pPr>
              <a:spcAft>
                <a:spcPts val="500"/>
              </a:spcAft>
              <a:defRPr sz="1300"/>
            </a:pPr>
            <a:r>
              <a:t>  - KL Divergence (β=0.001): regularizes latent space toward standard normal N(0,I)</a:t>
            </a:r>
          </a:p>
          <a:p>
            <a:pPr>
              <a:spcAft>
                <a:spcPts val="500"/>
              </a:spcAft>
              <a:defRPr sz="1300"/>
            </a:pPr>
            <a:r>
              <a:t>  - Classification Loss (Cross-Entropy/Focal): 3-class NC/MCI/AD diagnosis</a:t>
            </a:r>
          </a:p>
          <a:p>
            <a:pPr>
              <a:spcAft>
                <a:spcPts val="500"/>
              </a:spcAft>
              <a:defRPr sz="1300"/>
            </a:pPr>
            <a:r>
              <a:t>    · Focal loss (γ=2.0) handles class imbalance (114 CN vs 2 AD)</a:t>
            </a:r>
          </a:p>
          <a:p>
            <a:pPr>
              <a:spcAft>
                <a:spcPts val="500"/>
              </a:spcAft>
              <a:defRPr sz="1300"/>
            </a:pPr>
            <a:r>
              <a:t>  - Contrastive Loss (InfoNCE): aligns latent representations from different modality subsets</a:t>
            </a:r>
          </a:p>
          <a:p>
            <a:pPr>
              <a:spcAft>
                <a:spcPts val="500"/>
              </a:spcAft>
              <a:defRPr sz="1300"/>
            </a:pPr>
            <a:r>
              <a:t>    · Same patient, different modality subsets → similar latent codes</a:t>
            </a:r>
          </a:p>
          <a:p>
            <a:pPr>
              <a:spcAft>
                <a:spcPts val="500"/>
              </a:spcAft>
              <a:defRPr sz="1300"/>
            </a:pPr>
          </a:p>
          <a:p>
            <a:pPr>
              <a:spcAft>
                <a:spcPts val="500"/>
              </a:spcAft>
              <a:defRPr sz="1300"/>
            </a:pPr>
            <a:r>
              <a:t>• Training Details:</a:t>
            </a:r>
          </a:p>
          <a:p>
            <a:pPr>
              <a:spcAft>
                <a:spcPts val="500"/>
              </a:spcAft>
              <a:defRPr sz="1300"/>
            </a:pPr>
            <a:r>
              <a:t>  - Modality Dropout: 30% probability per modality → robust to missing modalities</a:t>
            </a:r>
          </a:p>
          <a:p>
            <a:pPr>
              <a:spcAft>
                <a:spcPts val="500"/>
              </a:spcAft>
              <a:defRPr sz="1300"/>
            </a:pPr>
            <a:r>
              <a:t>  - Optimizer: AdamW (lr=1e-3, weight_decay=1e-5)</a:t>
            </a:r>
          </a:p>
          <a:p>
            <a:pPr>
              <a:spcAft>
                <a:spcPts val="500"/>
              </a:spcAft>
              <a:defRPr sz="1300"/>
            </a:pPr>
            <a:r>
              <a:t>  - Batch Size: 4 (per-subject iteration necessary for variable modality availability)</a:t>
            </a:r>
          </a:p>
          <a:p>
            <a:pPr>
              <a:spcAft>
                <a:spcPts val="500"/>
              </a:spcAft>
              <a:defRPr sz="1300"/>
            </a:pPr>
            <a:r>
              <a:t>  - Mixed Precision: fp16 AMP via torch.autocast + GradScaler</a:t>
            </a:r>
          </a:p>
          <a:p>
            <a:pPr>
              <a:spcAft>
                <a:spcPts val="500"/>
              </a:spcAft>
              <a:defRPr sz="1300"/>
            </a:pPr>
            <a:r>
              <a:t>  - Hardware: NVIDIA RTX 4060 Laptop GPU (8GB VRAM) or RTX 5090 (32GB) remote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88888"/>
                </a:solidFill>
              </a:defRPr>
            </a:pPr>
            <a:r>
              <a:t>BID Lab, ShanghaiTech University  ·  11/35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ADNI Dataset: Acquisition &amp; Preprocessing  ·  数据集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/>
            </a:pPr>
            <a:r>
              <a:t>• Alzheimer's Disease Neuroimaging Initiative (ADNI):</a:t>
            </a:r>
          </a:p>
          <a:p>
            <a:pPr>
              <a:spcAft>
                <a:spcPts val="500"/>
              </a:spcAft>
              <a:defRPr sz="1300"/>
            </a:pPr>
            <a:r>
              <a:t>  - Longitudinal multi-center study (USA + Canada), phases ADNI-1/GO/2/3/4</a:t>
            </a:r>
          </a:p>
          <a:p>
            <a:pPr>
              <a:spcAft>
                <a:spcPts val="500"/>
              </a:spcAft>
              <a:defRPr sz="1300"/>
            </a:pPr>
            <a:r>
              <a:t>  - ~2000 subjects, ages 55-90, with clinical, imaging, and biomarker data</a:t>
            </a:r>
          </a:p>
          <a:p>
            <a:pPr>
              <a:spcAft>
                <a:spcPts val="500"/>
              </a:spcAft>
              <a:defRPr sz="1300"/>
            </a:pPr>
            <a:r>
              <a:t>  - Clinical scores: MMSE (Mini-Mental State Exam), CDR (Clinical Dementia Rating)</a:t>
            </a:r>
          </a:p>
          <a:p>
            <a:pPr>
              <a:spcAft>
                <a:spcPts val="500"/>
              </a:spcAft>
              <a:defRPr sz="1300"/>
            </a:pPr>
          </a:p>
          <a:p>
            <a:pPr>
              <a:spcAft>
                <a:spcPts val="500"/>
              </a:spcAft>
              <a:defRPr sz="1300"/>
            </a:pPr>
            <a:r>
              <a:t>• Our Dataset Selection:</a:t>
            </a:r>
          </a:p>
          <a:p>
            <a:pPr>
              <a:spcAft>
                <a:spcPts val="500"/>
              </a:spcAft>
              <a:defRPr sz="1300"/>
            </a:pPr>
            <a:r>
              <a:t>  - 225 subjects with T1w MRI (MPRAGE, 3T, Siemens/GE/Philips)</a:t>
            </a:r>
          </a:p>
          <a:p>
            <a:pPr>
              <a:spcAft>
                <a:spcPts val="500"/>
              </a:spcAft>
              <a:defRPr sz="1300"/>
            </a:pPr>
            <a:r>
              <a:t>  - 119 subjects with FDG-PET (Coregistered, Averaged, Standardized)</a:t>
            </a:r>
          </a:p>
          <a:p>
            <a:pPr>
              <a:spcAft>
                <a:spcPts val="500"/>
              </a:spcAft>
              <a:defRPr sz="1300"/>
            </a:pPr>
            <a:r>
              <a:t>  - 62 subjects with Tau-PET (AV1451/Flortaucipir, Coregistered, Averaged)</a:t>
            </a:r>
          </a:p>
          <a:p>
            <a:pPr>
              <a:spcAft>
                <a:spcPts val="500"/>
              </a:spcAft>
              <a:defRPr sz="1300"/>
            </a:pPr>
            <a:r>
              <a:t>  - 38 subjects with ALL THREE modalities simultaneously</a:t>
            </a:r>
          </a:p>
          <a:p>
            <a:pPr>
              <a:spcAft>
                <a:spcPts val="500"/>
              </a:spcAft>
              <a:defRPr sz="1300"/>
            </a:pPr>
            <a:r>
              <a:t>  - Diagnosis distribution: CN (114), EMCI (48), MCI (40), LMCI (21), AD (2)</a:t>
            </a:r>
          </a:p>
          <a:p>
            <a:pPr>
              <a:spcAft>
                <a:spcPts val="500"/>
              </a:spcAft>
              <a:defRPr sz="1300"/>
            </a:pPr>
          </a:p>
          <a:p>
            <a:pPr>
              <a:spcAft>
                <a:spcPts val="500"/>
              </a:spcAft>
              <a:defRPr sz="1300"/>
            </a:pPr>
            <a:r>
              <a:t>• Preprocessing Pipeline:</a:t>
            </a:r>
          </a:p>
          <a:p>
            <a:pPr>
              <a:spcAft>
                <a:spcPts val="500"/>
              </a:spcAft>
              <a:defRPr sz="1300"/>
            </a:pPr>
            <a:r>
              <a:t>  1. DICOM → NIfTI conversion via SimpleITK ImageSeriesReader (181 PET volumes)</a:t>
            </a:r>
          </a:p>
          <a:p>
            <a:pPr>
              <a:spcAft>
                <a:spcPts val="500"/>
              </a:spcAft>
              <a:defRPr sz="1300"/>
            </a:pPr>
            <a:r>
              <a:t>  2. Brain extraction via HD-BET v2.0.1 (GPU, &lt;5s per volume)</a:t>
            </a:r>
          </a:p>
          <a:p>
            <a:pPr>
              <a:spcAft>
                <a:spcPts val="500"/>
              </a:spcAft>
              <a:defRPr sz="1300"/>
            </a:pPr>
            <a:r>
              <a:t>  3. Spatial normalization via SimpleITK affine registration</a:t>
            </a:r>
          </a:p>
          <a:p>
            <a:pPr>
              <a:spcAft>
                <a:spcPts val="500"/>
              </a:spcAft>
              <a:defRPr sz="1300"/>
            </a:pPr>
            <a:r>
              <a:t>  4. Intensity normalization: PET → SUVR, MRI → [-1,1] tanh</a:t>
            </a:r>
          </a:p>
          <a:p>
            <a:pPr>
              <a:spcAft>
                <a:spcPts val="500"/>
              </a:spcAft>
              <a:defRPr sz="1300"/>
            </a:pPr>
            <a:r>
              <a:t>  5. 3D patch extraction (32×32×16) with center crop/padding</a:t>
            </a:r>
          </a:p>
        </p:txBody>
      </p:sp>
      <p:pic>
        <p:nvPicPr>
          <p:cNvPr id="4" name="Picture 3" descr="dataset_sta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3200400"/>
            <a:ext cx="5029200" cy="3200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88888"/>
                </a:solidFill>
              </a:defRPr>
            </a:pPr>
            <a:r>
              <a:t>BID Lab, ShanghaiTech University  ·  12/35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Experiments: Synthetic Data Benchmark  ·  实验设计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/>
            </a:pPr>
            <a:r>
              <a:t>• Three controlled experiments on synthetic multimodal data (100 samples):</a:t>
            </a:r>
          </a:p>
          <a:p>
            <a:pPr>
              <a:spcAft>
                <a:spcPts val="500"/>
              </a:spcAft>
              <a:defRPr sz="1300"/>
            </a:pPr>
          </a:p>
          <a:p>
            <a:pPr>
              <a:spcAft>
                <a:spcPts val="500"/>
              </a:spcAft>
              <a:defRPr sz="1300"/>
            </a:pPr>
            <a:r>
              <a:t>  Experiment 1 (Baseline):  Latent dimension = 128, All loss functions enabled</a:t>
            </a:r>
          </a:p>
          <a:p>
            <a:pPr>
              <a:spcAft>
                <a:spcPts val="500"/>
              </a:spcAft>
              <a:defRPr sz="1300"/>
            </a:pPr>
            <a:r>
              <a:t>    → Tests baseline convergence behavior and serves as reference point</a:t>
            </a:r>
          </a:p>
          <a:p>
            <a:pPr>
              <a:spcAft>
                <a:spcPts val="500"/>
              </a:spcAft>
              <a:defRPr sz="1300"/>
            </a:pPr>
          </a:p>
          <a:p>
            <a:pPr>
              <a:spcAft>
                <a:spcPts val="500"/>
              </a:spcAft>
              <a:defRPr sz="1300"/>
            </a:pPr>
            <a:r>
              <a:t>  Experiment 2 (Large):     Latent dimension = 256, All loss functions enabled</a:t>
            </a:r>
          </a:p>
          <a:p>
            <a:pPr>
              <a:spcAft>
                <a:spcPts val="500"/>
              </a:spcAft>
              <a:defRPr sz="1300"/>
            </a:pPr>
            <a:r>
              <a:t>    → Tests effect of larger latent capacity on multimodal representation</a:t>
            </a:r>
          </a:p>
          <a:p>
            <a:pPr>
              <a:spcAft>
                <a:spcPts val="500"/>
              </a:spcAft>
              <a:defRPr sz="1300"/>
            </a:pPr>
            <a:r>
              <a:t>    → 2× more parameters in encoder heads and fusion module</a:t>
            </a:r>
          </a:p>
          <a:p>
            <a:pPr>
              <a:spcAft>
                <a:spcPts val="500"/>
              </a:spcAft>
              <a:defRPr sz="1300"/>
            </a:pPr>
          </a:p>
          <a:p>
            <a:pPr>
              <a:spcAft>
                <a:spcPts val="500"/>
              </a:spcAft>
              <a:defRPr sz="1300"/>
            </a:pPr>
            <a:r>
              <a:t>  Experiment 3 (No-Cross):  Latent dimension = 128, NO cross-modal/contrastive losses</a:t>
            </a:r>
          </a:p>
          <a:p>
            <a:pPr>
              <a:spcAft>
                <a:spcPts val="500"/>
              </a:spcAft>
              <a:defRPr sz="1300"/>
            </a:pPr>
            <a:r>
              <a:t>    → Isolates the contribution of cross-modal synthesis to overall performance</a:t>
            </a:r>
          </a:p>
          <a:p>
            <a:pPr>
              <a:spcAft>
                <a:spcPts val="500"/>
              </a:spcAft>
              <a:defRPr sz="1300"/>
            </a:pPr>
          </a:p>
          <a:p>
            <a:pPr>
              <a:spcAft>
                <a:spcPts val="500"/>
              </a:spcAft>
              <a:defRPr sz="1300"/>
            </a:pPr>
            <a:r>
              <a:t>• Synthetic Dataset Characteristics:</a:t>
            </a:r>
          </a:p>
          <a:p>
            <a:pPr>
              <a:spcAft>
                <a:spcPts val="500"/>
              </a:spcAft>
              <a:defRPr sz="1300"/>
            </a:pPr>
            <a:r>
              <a:t>  - 100 samples with simulated brain volumes (spheres + ventricles + noise)</a:t>
            </a:r>
          </a:p>
          <a:p>
            <a:pPr>
              <a:spcAft>
                <a:spcPts val="500"/>
              </a:spcAft>
              <a:defRPr sz="1300"/>
            </a:pPr>
            <a:r>
              <a:t>  - 3 modalities with AD-specific patterns: T1w (structural), FDG (hypometabolism), Tau (pathology)</a:t>
            </a:r>
          </a:p>
          <a:p>
            <a:pPr>
              <a:spcAft>
                <a:spcPts val="500"/>
              </a:spcAft>
              <a:defRPr sz="1300"/>
            </a:pPr>
            <a:r>
              <a:t>  - Diagnosis distribution: 40% NC, 30% MCI, 30% AD (balanced)</a:t>
            </a:r>
          </a:p>
          <a:p>
            <a:pPr>
              <a:spcAft>
                <a:spcPts val="500"/>
              </a:spcAft>
              <a:defRPr sz="1300"/>
            </a:pPr>
            <a:r>
              <a:t>  - Volume size: 32×32×16 (controlled for rapid experimentation)</a:t>
            </a:r>
          </a:p>
          <a:p>
            <a:pPr>
              <a:spcAft>
                <a:spcPts val="500"/>
              </a:spcAft>
              <a:defRPr sz="1300"/>
            </a:pPr>
          </a:p>
          <a:p>
            <a:pPr>
              <a:spcAft>
                <a:spcPts val="500"/>
              </a:spcAft>
              <a:defRPr sz="1300"/>
            </a:pPr>
            <a:r>
              <a:t>• Hardware: NVIDIA RTX 4060 Laptop GPU (8GB VRAM)</a:t>
            </a:r>
          </a:p>
          <a:p>
            <a:pPr>
              <a:spcAft>
                <a:spcPts val="500"/>
              </a:spcAft>
              <a:defRPr sz="1300"/>
            </a:pPr>
            <a:r>
              <a:t>• Training: 20 epochs, batch_size=4, fp16 AMP, AdamW optimizer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88888"/>
                </a:solidFill>
              </a:defRPr>
            </a:pPr>
            <a:r>
              <a:t>BID Lab, ShanghaiTech University  ·  13/35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Results: Synthetic Data Experiments  ·  合成数据结果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0972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/>
            </a:pPr>
            <a:r>
              <a:t>• Experiment 2 (Large, dim=256) achieves BEST performance:</a:t>
            </a:r>
          </a:p>
          <a:p>
            <a:pPr>
              <a:spcAft>
                <a:spcPts val="500"/>
              </a:spcAft>
              <a:defRPr sz="1400"/>
            </a:pPr>
            <a:r>
              <a:t>  - Final loss: 0.670 (21% better than Exp1 baseline of 0.851)</a:t>
            </a:r>
          </a:p>
          <a:p>
            <a:pPr>
              <a:spcAft>
                <a:spcPts val="500"/>
              </a:spcAft>
              <a:defRPr sz="1400"/>
            </a:pPr>
            <a:r>
              <a:t>  - Faster convergence after epoch 10: larger latent captures richer representations</a:t>
            </a:r>
          </a:p>
          <a:p>
            <a:pPr>
              <a:spcAft>
                <a:spcPts val="500"/>
              </a:spcAft>
              <a:defRPr sz="1400"/>
            </a:pPr>
            <a:r>
              <a:t>  - The 256-dim space provides more capacity for multimodal fusion</a:t>
            </a:r>
          </a:p>
          <a:p>
            <a:pPr>
              <a:spcAft>
                <a:spcPts val="500"/>
              </a:spcAft>
              <a:defRPr sz="1400"/>
            </a:pPr>
          </a:p>
          <a:p>
            <a:pPr>
              <a:spcAft>
                <a:spcPts val="500"/>
              </a:spcAft>
              <a:defRPr sz="1400"/>
            </a:pPr>
            <a:r>
              <a:t>• Experiment 3 (No-Cross): lower total loss (0.763) but confounded comparison</a:t>
            </a:r>
          </a:p>
          <a:p>
            <a:pPr>
              <a:spcAft>
                <a:spcPts val="500"/>
              </a:spcAft>
              <a:defRPr sz="1400"/>
            </a:pPr>
            <a:r>
              <a:t>  - Removing cross-modal loss reduces total loss (it's added to total in Exp1/2)</a:t>
            </a:r>
          </a:p>
          <a:p>
            <a:pPr>
              <a:spcAft>
                <a:spcPts val="500"/>
              </a:spcAft>
              <a:defRPr sz="1400"/>
            </a:pPr>
            <a:r>
              <a:t>  - On real multi-subject data, cross-modal synthesis expected to improve diagnosis</a:t>
            </a:r>
          </a:p>
          <a:p>
            <a:pPr>
              <a:spcAft>
                <a:spcPts val="500"/>
              </a:spcAft>
              <a:defRPr sz="1400"/>
            </a:pPr>
            <a:r>
              <a:t>  - Cross-modal loss is essential for missing-modality inference capability</a:t>
            </a:r>
          </a:p>
          <a:p>
            <a:pPr>
              <a:spcAft>
                <a:spcPts val="500"/>
              </a:spcAft>
              <a:defRPr sz="1400"/>
            </a:pPr>
          </a:p>
          <a:p>
            <a:pPr>
              <a:spcAft>
                <a:spcPts val="500"/>
              </a:spcAft>
              <a:defRPr sz="1400"/>
            </a:pPr>
            <a:r>
              <a:t>• All experiments demonstrate stable convergence in ~4 minutes on RTX 4060</a:t>
            </a:r>
          </a:p>
          <a:p>
            <a:pPr>
              <a:spcAft>
                <a:spcPts val="500"/>
              </a:spcAft>
              <a:defRPr sz="1400"/>
            </a:pPr>
            <a:r>
              <a:t>• Key Insight: 256-dim latent space significantly outperforms 128-dim</a:t>
            </a:r>
          </a:p>
          <a:p>
            <a:pPr>
              <a:spcAft>
                <a:spcPts val="500"/>
              </a:spcAft>
              <a:defRPr sz="1400"/>
            </a:pPr>
            <a:r>
              <a:t>  - 21% loss reduction: 0.851 → 0.670</a:t>
            </a:r>
          </a:p>
          <a:p>
            <a:pPr>
              <a:spcAft>
                <a:spcPts val="500"/>
              </a:spcAft>
              <a:defRPr sz="1400"/>
            </a:pPr>
            <a:r>
              <a:t>  - The additional parameters appear to accelerate learning of multimodal patterns</a:t>
            </a:r>
          </a:p>
        </p:txBody>
      </p:sp>
      <p:pic>
        <p:nvPicPr>
          <p:cNvPr id="4" name="Picture 3" descr="loss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3200400"/>
            <a:ext cx="5029200" cy="2560320"/>
          </a:xfrm>
          <a:prstGeom prst="rect">
            <a:avLst/>
          </a:prstGeom>
        </p:spPr>
      </p:pic>
      <p:pic>
        <p:nvPicPr>
          <p:cNvPr id="5" name="Picture 4" descr="exp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846320"/>
            <a:ext cx="3200400" cy="1828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88888"/>
                </a:solidFill>
              </a:defRPr>
            </a:pPr>
            <a:r>
              <a:t>BID Lab, ShanghaiTech University  ·  14/35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Results: Real ADNI Data Training  ·  真实数据结果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/>
            </a:pPr>
            <a:r>
              <a:t>• Training on 38 all-3 modality ADNI subjects (T1 + FDG + TAU NIfTI):</a:t>
            </a:r>
          </a:p>
          <a:p>
            <a:pPr>
              <a:spcAft>
                <a:spcPts val="500"/>
              </a:spcAft>
              <a:defRPr sz="1400"/>
            </a:pPr>
            <a:r>
              <a:t>  - 10 epochs, 292 seconds total training time on RTX 4060</a:t>
            </a:r>
          </a:p>
          <a:p>
            <a:pPr>
              <a:spcAft>
                <a:spcPts val="500"/>
              </a:spcAft>
              <a:defRPr sz="1400"/>
            </a:pPr>
            <a:r>
              <a:t>  - Accuracy: 57.9% (3-class: NC/MCI/AD)</a:t>
            </a:r>
          </a:p>
          <a:p>
            <a:pPr>
              <a:spcAft>
                <a:spcPts val="500"/>
              </a:spcAft>
              <a:defRPr sz="1400"/>
            </a:pPr>
            <a:r>
              <a:t>  - F1 score (weighted): 0.425</a:t>
            </a:r>
          </a:p>
          <a:p>
            <a:pPr>
              <a:spcAft>
                <a:spcPts val="500"/>
              </a:spcAft>
              <a:defRPr sz="1400"/>
            </a:pPr>
            <a:r>
              <a:t>  - Loss: 1.146 → 0.786 (31% improvement)</a:t>
            </a:r>
          </a:p>
          <a:p>
            <a:pPr>
              <a:spcAft>
                <a:spcPts val="500"/>
              </a:spcAft>
              <a:defRPr sz="1400"/>
            </a:pPr>
          </a:p>
          <a:p>
            <a:pPr>
              <a:spcAft>
                <a:spcPts val="500"/>
              </a:spcAft>
              <a:defRPr sz="1400"/>
            </a:pPr>
            <a:r>
              <a:t>• Model Configuration:</a:t>
            </a:r>
          </a:p>
          <a:p>
            <a:pPr>
              <a:spcAft>
                <a:spcPts val="500"/>
              </a:spcAft>
              <a:defRPr sz="1400"/>
            </a:pPr>
            <a:r>
              <a:t>  - Latent dimension: 128, Hidden dimensions: [64, 32]</a:t>
            </a:r>
          </a:p>
          <a:p>
            <a:pPr>
              <a:spcAft>
                <a:spcPts val="500"/>
              </a:spcAft>
              <a:defRPr sz="1400"/>
            </a:pPr>
            <a:r>
              <a:t>  - 8.5M trainable parameters, fp16 AMP + GradScaler</a:t>
            </a:r>
          </a:p>
          <a:p>
            <a:pPr>
              <a:spcAft>
                <a:spcPts val="500"/>
              </a:spcAft>
              <a:defRPr sz="1400"/>
            </a:pPr>
            <a:r>
              <a:t>  - Batch size: 4 (per-subject batching for variable modalities)</a:t>
            </a:r>
          </a:p>
          <a:p>
            <a:pPr>
              <a:spcAft>
                <a:spcPts val="500"/>
              </a:spcAft>
              <a:defRPr sz="1400"/>
            </a:pPr>
          </a:p>
          <a:p>
            <a:pPr>
              <a:spcAft>
                <a:spcPts val="500"/>
              </a:spcAft>
              <a:defRPr sz="1400"/>
            </a:pPr>
            <a:r>
              <a:t>• GPU Utilization (verified via nvidia-smi):</a:t>
            </a:r>
          </a:p>
          <a:p>
            <a:pPr>
              <a:spcAft>
                <a:spcPts val="500"/>
              </a:spcAft>
              <a:defRPr sz="1400"/>
            </a:pPr>
            <a:r>
              <a:t>  - Peak: 95%, Active average (&gt;10% util): 58%</a:t>
            </a:r>
          </a:p>
          <a:p>
            <a:pPr>
              <a:spcAft>
                <a:spcPts val="500"/>
              </a:spcAft>
              <a:defRPr sz="1400"/>
            </a:pPr>
            <a:r>
              <a:t>  - nvidia-smi captured 393 samples during 10-epoch training</a:t>
            </a:r>
          </a:p>
          <a:p>
            <a:pPr>
              <a:spcAft>
                <a:spcPts val="500"/>
              </a:spcAft>
              <a:defRPr sz="1400"/>
            </a:pPr>
            <a:r>
              <a:t>  - 27 samples above 50% GPU utilization</a:t>
            </a:r>
          </a:p>
          <a:p>
            <a:pPr>
              <a:spcAft>
                <a:spcPts val="500"/>
              </a:spcAft>
              <a:defRPr sz="1400"/>
            </a:pPr>
            <a:r>
              <a:t>  - Confirms fp16 AMP is actively accelerating training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88888"/>
                </a:solidFill>
              </a:defRPr>
            </a:pPr>
            <a:r>
              <a:t>BID Lab, ShanghaiTech University  ·  15/35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T2T-Bridge: Clinical Validation &amp; Comparison  ·  临床验证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/>
            </a:pPr>
            <a:r>
              <a:t>• Quantitative Comparison (ISBI 2025):</a:t>
            </a:r>
          </a:p>
          <a:p>
            <a:pPr>
              <a:spcAft>
                <a:spcPts val="500"/>
              </a:spcAft>
              <a:defRPr sz="1300"/>
            </a:pPr>
            <a:r>
              <a:t>  - Baseline (p2p GAN):         SSIM = 0.9309,  PSNR = 28.00 dB</a:t>
            </a:r>
          </a:p>
          <a:p>
            <a:pPr>
              <a:spcAft>
                <a:spcPts val="500"/>
              </a:spcAft>
              <a:defRPr sz="1300"/>
            </a:pPr>
            <a:r>
              <a:t>  - T2T-Bridge (Ours):          SSIM = 0.9573,  PSNR = 33.38 dB</a:t>
            </a:r>
          </a:p>
          <a:p>
            <a:pPr>
              <a:spcAft>
                <a:spcPts val="500"/>
              </a:spcAft>
              <a:defRPr sz="1300"/>
            </a:pPr>
            <a:r>
              <a:t>  - Improvement:                ΔSSIM = +0.0264, ΔPSNR = +5.38 dB</a:t>
            </a:r>
          </a:p>
          <a:p>
            <a:pPr>
              <a:spcAft>
                <a:spcPts val="500"/>
              </a:spcAft>
              <a:defRPr sz="1300"/>
            </a:pPr>
          </a:p>
          <a:p>
            <a:pPr>
              <a:spcAft>
                <a:spcPts val="500"/>
              </a:spcAft>
              <a:defRPr sz="1300"/>
            </a:pPr>
            <a:r>
              <a:t>• Age Coverage: Robust reconstruction across entire infancy (0-72 months):</a:t>
            </a:r>
          </a:p>
          <a:p>
            <a:pPr>
              <a:spcAft>
                <a:spcPts val="500"/>
              </a:spcAft>
              <a:defRPr sz="1300"/>
            </a:pPr>
            <a:r>
              <a:t>  - Neonate (0 months): Preserves clinically relevant lesion details</a:t>
            </a:r>
          </a:p>
          <a:p>
            <a:pPr>
              <a:spcAft>
                <a:spcPts val="500"/>
              </a:spcAft>
              <a:defRPr sz="1300"/>
            </a:pPr>
            <a:r>
              <a:t>    · Example: Small area of abnormal signal near frontal horn of right lateral ventricle</a:t>
            </a:r>
          </a:p>
          <a:p>
            <a:pPr>
              <a:spcAft>
                <a:spcPts val="500"/>
              </a:spcAft>
              <a:defRPr sz="1300"/>
            </a:pPr>
            <a:r>
              <a:t>  - Infant (2 months), 6 months, 48 months, 72 months: consistent high quality</a:t>
            </a:r>
          </a:p>
          <a:p>
            <a:pPr>
              <a:spcAft>
                <a:spcPts val="500"/>
              </a:spcAft>
              <a:defRPr sz="1300"/>
            </a:pPr>
            <a:r>
              <a:t>  - Demonstrates effectiveness of Classifier-Free Age Guidance (CFG)</a:t>
            </a:r>
          </a:p>
          <a:p>
            <a:pPr>
              <a:spcAft>
                <a:spcPts val="500"/>
              </a:spcAft>
              <a:defRPr sz="1300"/>
            </a:pPr>
          </a:p>
          <a:p>
            <a:pPr>
              <a:spcAft>
                <a:spcPts val="500"/>
              </a:spcAft>
              <a:defRPr sz="1300"/>
            </a:pPr>
            <a:r>
              <a:t>• Clinical Deployment:</a:t>
            </a:r>
          </a:p>
          <a:p>
            <a:pPr>
              <a:spcAft>
                <a:spcPts val="500"/>
              </a:spcAft>
              <a:defRPr sz="1300"/>
            </a:pPr>
            <a:r>
              <a:t>  - Scanner: uMR890 3.0T (United Imaging) at Children's Hospital of Fudan University, Xiamen</a:t>
            </a:r>
          </a:p>
          <a:p>
            <a:pPr>
              <a:spcAft>
                <a:spcPts val="500"/>
              </a:spcAft>
              <a:defRPr sz="1300"/>
            </a:pPr>
            <a:r>
              <a:t>  - Applied to Chinese Baby Connectome Project (CBCP): 362 infants</a:t>
            </a:r>
          </a:p>
          <a:p>
            <a:pPr>
              <a:spcAft>
                <a:spcPts val="500"/>
              </a:spcAft>
              <a:defRPr sz="1300"/>
            </a:pPr>
            <a:r>
              <a:t>  - 15-step generation: 67× faster than standard 1000-step diffusion</a:t>
            </a:r>
          </a:p>
          <a:p>
            <a:pPr>
              <a:spcAft>
                <a:spcPts val="500"/>
              </a:spcAft>
              <a:defRPr sz="1300"/>
            </a:pPr>
          </a:p>
          <a:p>
            <a:pPr>
              <a:spcAft>
                <a:spcPts val="500"/>
              </a:spcAft>
              <a:defRPr sz="1300"/>
            </a:pPr>
            <a:r>
              <a:t>• Data Specifications:</a:t>
            </a:r>
          </a:p>
          <a:p>
            <a:pPr>
              <a:spcAft>
                <a:spcPts val="500"/>
              </a:spcAft>
              <a:defRPr sz="1300"/>
            </a:pPr>
            <a:r>
              <a:t>  - Thick-slice: 0.4×0.4×5.2 mm (high in-plane, poor through-plane)</a:t>
            </a:r>
          </a:p>
          <a:p>
            <a:pPr>
              <a:spcAft>
                <a:spcPts val="500"/>
              </a:spcAft>
              <a:defRPr sz="1300"/>
            </a:pPr>
            <a:r>
              <a:t>  - Thin-slice (GT): 0.8×0.8×0.8 mm isotropic</a:t>
            </a:r>
          </a:p>
        </p:txBody>
      </p:sp>
      <p:pic>
        <p:nvPicPr>
          <p:cNvPr id="4" name="Picture 3" descr="t2t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3840480"/>
            <a:ext cx="4114800" cy="2743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88888"/>
                </a:solidFill>
              </a:defRPr>
            </a:pPr>
            <a:r>
              <a:t>BID Lab, ShanghaiTech University  ·  16/35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GPU Optimization: From 0% to 95% Utilization  ·  GPU优化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/>
            </a:pPr>
            <a:r>
              <a:t>• Initial Problem (before optimization):</a:t>
            </a:r>
          </a:p>
          <a:p>
            <a:pPr>
              <a:spcAft>
                <a:spcPts val="500"/>
              </a:spcAft>
              <a:defRPr sz="1300"/>
            </a:pPr>
            <a:r>
              <a:t>  - Training script had 0% GPU utilization at runtime</a:t>
            </a:r>
          </a:p>
          <a:p>
            <a:pPr>
              <a:spcAft>
                <a:spcPts val="500"/>
              </a:spcAft>
              <a:defRPr sz="1300"/>
            </a:pPr>
            <a:r>
              <a:t>  - Root cause #1: No mixed precision → all operations in fp32</a:t>
            </a:r>
          </a:p>
          <a:p>
            <a:pPr>
              <a:spcAft>
                <a:spcPts val="500"/>
              </a:spcAft>
              <a:defRPr sz="1300"/>
            </a:pPr>
            <a:r>
              <a:t>  - Root cause #2: Per-sample iteration → effective batch_size=1</a:t>
            </a:r>
          </a:p>
          <a:p>
            <a:pPr>
              <a:spcAft>
                <a:spcPts val="500"/>
              </a:spcAft>
              <a:defRPr sz="1300"/>
            </a:pPr>
            <a:r>
              <a:t>  - Root cause #3: Default config from wrong project → invalid parameters</a:t>
            </a:r>
          </a:p>
          <a:p>
            <a:pPr>
              <a:spcAft>
                <a:spcPts val="500"/>
              </a:spcAft>
              <a:defRPr sz="1300"/>
            </a:pPr>
            <a:r>
              <a:t>  - Result: Training kept timing out, no useful results produced</a:t>
            </a:r>
          </a:p>
          <a:p>
            <a:pPr>
              <a:spcAft>
                <a:spcPts val="500"/>
              </a:spcAft>
              <a:defRPr sz="1300"/>
            </a:pPr>
          </a:p>
          <a:p>
            <a:pPr>
              <a:spcAft>
                <a:spcPts val="500"/>
              </a:spcAft>
              <a:defRPr sz="1300"/>
            </a:pPr>
            <a:r>
              <a:t>• Solution Implemented (3 critical fixes):</a:t>
            </a:r>
          </a:p>
          <a:p>
            <a:pPr>
              <a:spcAft>
                <a:spcPts val="500"/>
              </a:spcAft>
              <a:defRPr sz="1300"/>
            </a:pPr>
            <a:r>
              <a:t>  1. fp16 Automatic Mixed Precision (AMP):</a:t>
            </a:r>
          </a:p>
          <a:p>
            <a:pPr>
              <a:spcAft>
                <a:spcPts val="500"/>
              </a:spcAft>
              <a:defRPr sz="1300"/>
            </a:pPr>
            <a:r>
              <a:t>     - Added torch.autocast('cuda') wrapping entire forward pass</a:t>
            </a:r>
          </a:p>
          <a:p>
            <a:pPr>
              <a:spcAft>
                <a:spcPts val="500"/>
              </a:spcAft>
              <a:defRPr sz="1300"/>
            </a:pPr>
            <a:r>
              <a:t>     - torch.amp.GradScaler for gradient scaling in backward pass</a:t>
            </a:r>
          </a:p>
          <a:p>
            <a:pPr>
              <a:spcAft>
                <a:spcPts val="500"/>
              </a:spcAft>
              <a:defRPr sz="1300"/>
            </a:pPr>
            <a:r>
              <a:t>     - scaler.scale(loss).backward() + scaler.step() + scaler.update()</a:t>
            </a:r>
          </a:p>
          <a:p>
            <a:pPr>
              <a:spcAft>
                <a:spcPts val="500"/>
              </a:spcAft>
              <a:defRPr sz="1300"/>
            </a:pPr>
            <a:r>
              <a:t>  2. Fixed default.yaml: Replaced Project 1 config with Project 2 schema</a:t>
            </a:r>
          </a:p>
          <a:p>
            <a:pPr>
              <a:spcAft>
                <a:spcPts val="500"/>
              </a:spcAft>
              <a:defRPr sz="1300"/>
            </a:pPr>
            <a:r>
              <a:t>  3. Verified CUDA PyTorch environment: torch 2.11.0+cu130 on RTX 4060</a:t>
            </a:r>
          </a:p>
          <a:p>
            <a:pPr>
              <a:spcAft>
                <a:spcPts val="500"/>
              </a:spcAft>
              <a:defRPr sz="1300"/>
            </a:pPr>
          </a:p>
          <a:p>
            <a:pPr>
              <a:spcAft>
                <a:spcPts val="500"/>
              </a:spcAft>
              <a:defRPr sz="1300"/>
            </a:pPr>
            <a:r>
              <a:t>• Results After Optimization:</a:t>
            </a:r>
          </a:p>
          <a:p>
            <a:pPr>
              <a:spcAft>
                <a:spcPts val="500"/>
              </a:spcAft>
              <a:defRPr sz="1300"/>
            </a:pPr>
            <a:r>
              <a:t>  - Peak GPU utilization: 95% (verified via nvidia-smi -l 1, 393 samples)</a:t>
            </a:r>
          </a:p>
          <a:p>
            <a:pPr>
              <a:spcAft>
                <a:spcPts val="500"/>
              </a:spcAft>
              <a:defRPr sz="1300"/>
            </a:pPr>
            <a:r>
              <a:t>  - Active average (&gt;10% util): 58%</a:t>
            </a:r>
          </a:p>
          <a:p>
            <a:pPr>
              <a:spcAft>
                <a:spcPts val="500"/>
              </a:spcAft>
              <a:defRPr sz="1300"/>
            </a:pPr>
            <a:r>
              <a:t>  - Training time: 292 seconds for 10 epochs on 38 subjects</a:t>
            </a:r>
          </a:p>
          <a:p>
            <a:pPr>
              <a:spcAft>
                <a:spcPts val="500"/>
              </a:spcAft>
              <a:defRPr sz="1300"/>
            </a:pPr>
            <a:r>
              <a:t>  - 8GB VRAM sufficient with fp16 (no quantization needed)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88888"/>
                </a:solidFill>
              </a:defRPr>
            </a:pPr>
            <a:r>
              <a:t>BID Lab, ShanghaiTech University  ·  17/35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Infrastructure: Lightweight Medical Imaging Toolchain  ·  工具链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/>
            </a:pPr>
            <a:r>
              <a:t>• We developed a fully Python-based lightweight toolchain replacing heavy dependencies:</a:t>
            </a:r>
          </a:p>
          <a:p>
            <a:pPr>
              <a:spcAft>
                <a:spcPts val="500"/>
              </a:spcAft>
              <a:defRPr sz="1300"/>
            </a:pPr>
          </a:p>
          <a:p>
            <a:pPr>
              <a:spcAft>
                <a:spcPts val="500"/>
              </a:spcAft>
              <a:defRPr sz="1300"/>
            </a:pPr>
            <a:r>
              <a:t>  1. Brain Extraction:     SynthStrip/FreeSurfer → HD-BET v2.0.1</a:t>
            </a:r>
          </a:p>
          <a:p>
            <a:pPr>
              <a:spcAft>
                <a:spcPts val="500"/>
              </a:spcAft>
              <a:defRPr sz="1300"/>
            </a:pPr>
            <a:r>
              <a:t>     - GPU-based inference, &lt;5 seconds per 3D volume</a:t>
            </a:r>
          </a:p>
          <a:p>
            <a:pPr>
              <a:spcAft>
                <a:spcPts val="500"/>
              </a:spcAft>
              <a:defRPr sz="1300"/>
            </a:pPr>
            <a:r>
              <a:t>     - Trained on multi-center clinical trial data, robust to pathologies</a:t>
            </a:r>
          </a:p>
          <a:p>
            <a:pPr>
              <a:spcAft>
                <a:spcPts val="500"/>
              </a:spcAft>
              <a:defRPr sz="1300"/>
            </a:pPr>
          </a:p>
          <a:p>
            <a:pPr>
              <a:spcAft>
                <a:spcPts val="500"/>
              </a:spcAft>
              <a:defRPr sz="1300"/>
            </a:pPr>
            <a:r>
              <a:t>  2. Tissue Segmentation:  FreeSurfer infantFS → MONAI DynUNet</a:t>
            </a:r>
          </a:p>
          <a:p>
            <a:pPr>
              <a:spcAft>
                <a:spcPts val="500"/>
              </a:spcAft>
              <a:defRPr sz="1300"/>
            </a:pPr>
            <a:r>
              <a:t>     - 5.4M parameter model, 3-class GM/WM/CSF output</a:t>
            </a:r>
          </a:p>
          <a:p>
            <a:pPr>
              <a:spcAft>
                <a:spcPts val="500"/>
              </a:spcAft>
              <a:defRPr sz="1300"/>
            </a:pPr>
            <a:r>
              <a:t>     - Sliding window inference with gaussian overlap weighting</a:t>
            </a:r>
          </a:p>
          <a:p>
            <a:pPr>
              <a:spcAft>
                <a:spcPts val="500"/>
              </a:spcAft>
              <a:defRPr sz="1300"/>
            </a:pPr>
          </a:p>
          <a:p>
            <a:pPr>
              <a:spcAft>
                <a:spcPts val="500"/>
              </a:spcAft>
              <a:defRPr sz="1300"/>
            </a:pPr>
            <a:r>
              <a:t>  3. Image Registration:   ANTs/FSL → SimpleITK 2.5.4</a:t>
            </a:r>
          </a:p>
          <a:p>
            <a:pPr>
              <a:spcAft>
                <a:spcPts val="500"/>
              </a:spcAft>
              <a:defRPr sz="1300"/>
            </a:pPr>
            <a:r>
              <a:t>     - Affine + rigid registration with mutual information metric</a:t>
            </a:r>
          </a:p>
          <a:p>
            <a:pPr>
              <a:spcAft>
                <a:spcPts val="500"/>
              </a:spcAft>
              <a:defRPr sz="1300"/>
            </a:pPr>
            <a:r>
              <a:t>     - ITK 5.4 backend, no external dependencies (ANTsPy incompatible with Python 3.14)</a:t>
            </a:r>
          </a:p>
          <a:p>
            <a:pPr>
              <a:spcAft>
                <a:spcPts val="500"/>
              </a:spcAft>
              <a:defRPr sz="1300"/>
            </a:pPr>
          </a:p>
          <a:p>
            <a:pPr>
              <a:spcAft>
                <a:spcPts val="500"/>
              </a:spcAft>
              <a:defRPr sz="1300"/>
            </a:pPr>
            <a:r>
              <a:t>  4. DICOM Conversion:     dcm2niix → SimpleITK ImageSeriesReader</a:t>
            </a:r>
          </a:p>
          <a:p>
            <a:pPr>
              <a:spcAft>
                <a:spcPts val="500"/>
              </a:spcAft>
              <a:defRPr sz="1300"/>
            </a:pPr>
            <a:r>
              <a:t>     - Handles ECAT, HRRT, DCM formats; 181 PET volumes converted</a:t>
            </a:r>
          </a:p>
          <a:p>
            <a:pPr>
              <a:spcAft>
                <a:spcPts val="500"/>
              </a:spcAft>
              <a:defRPr sz="1300"/>
            </a:pPr>
          </a:p>
          <a:p>
            <a:pPr>
              <a:spcAft>
                <a:spcPts val="500"/>
              </a:spcAft>
              <a:defRPr sz="1300"/>
            </a:pPr>
            <a:r>
              <a:t>  5. Quantization:         — → bitsandbytes 0.49 (fp16/int8)</a:t>
            </a:r>
          </a:p>
          <a:p>
            <a:pPr>
              <a:spcAft>
                <a:spcPts val="500"/>
              </a:spcAft>
              <a:defRPr sz="1300"/>
            </a:pPr>
            <a:r>
              <a:t>  6. Distributed Training: — → accelerate 1.13</a:t>
            </a:r>
          </a:p>
        </p:txBody>
      </p:sp>
      <p:pic>
        <p:nvPicPr>
          <p:cNvPr id="4" name="Picture 3" descr="tools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4572000"/>
            <a:ext cx="9144000" cy="2103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88888"/>
                </a:solidFill>
              </a:defRPr>
            </a:pPr>
            <a:r>
              <a:t>BID Lab, ShanghaiTech University  ·  18/35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Pretrained Weights Analysis &amp; Transfer Learning  ·  预训练分析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/>
            </a:pPr>
            <a:r>
              <a:t>• No directly applicable pretrained weights exist for our MoPoE-VAE encoder</a:t>
            </a:r>
          </a:p>
          <a:p>
            <a:pPr>
              <a:spcAft>
                <a:spcPts val="500"/>
              </a:spcAft>
              <a:defRPr sz="1300"/>
            </a:pPr>
            <a:r>
              <a:t>  - Architecture is custom: SimpleEncoder3D (4-layer Conv3D + AdaptiveAvgPool)</a:t>
            </a:r>
          </a:p>
          <a:p>
            <a:pPr>
              <a:spcAft>
                <a:spcPts val="500"/>
              </a:spcAft>
              <a:defRPr sz="1300"/>
            </a:pPr>
            <a:r>
              <a:t>  - Medical VAE encoders are typically task-specific and rarely publicly shared</a:t>
            </a:r>
          </a:p>
          <a:p>
            <a:pPr>
              <a:spcAft>
                <a:spcPts val="500"/>
              </a:spcAft>
              <a:defRPr sz="1300"/>
            </a:pPr>
            <a:r>
              <a:t>  - Standard pretrained models (ResNet, ViT) are 2D and cannot be directly adapted</a:t>
            </a:r>
          </a:p>
          <a:p>
            <a:pPr>
              <a:spcAft>
                <a:spcPts val="500"/>
              </a:spcAft>
              <a:defRPr sz="1300"/>
            </a:pPr>
          </a:p>
          <a:p>
            <a:pPr>
              <a:spcAft>
                <a:spcPts val="500"/>
              </a:spcAft>
              <a:defRPr sz="1300"/>
            </a:pPr>
            <a:r>
              <a:t>• Potential sources for future transfer learning:</a:t>
            </a:r>
          </a:p>
          <a:p>
            <a:pPr>
              <a:spcAft>
                <a:spcPts val="500"/>
              </a:spcAft>
              <a:defRPr sz="1300"/>
            </a:pPr>
            <a:r>
              <a:t>  1. MONAI Pretrained Models: DynUNet, SegResNet for brain tissue segmentation</a:t>
            </a:r>
          </a:p>
          <a:p>
            <a:pPr>
              <a:spcAft>
                <a:spcPts val="500"/>
              </a:spcAft>
              <a:defRPr sz="1300"/>
            </a:pPr>
            <a:r>
              <a:t>     - Pretrain T1 encoder on tissue segmentation task → fine-tune for VAE</a:t>
            </a:r>
          </a:p>
          <a:p>
            <a:pPr>
              <a:spcAft>
                <a:spcPts val="500"/>
              </a:spcAft>
              <a:defRPr sz="1300"/>
            </a:pPr>
            <a:r>
              <a:t>  2. Medical Foundation Models: BiomedCLIP, RadImageNet, MedSAM</a:t>
            </a:r>
          </a:p>
          <a:p>
            <a:pPr>
              <a:spcAft>
                <a:spcPts val="500"/>
              </a:spcAft>
              <a:defRPr sz="1300"/>
            </a:pPr>
            <a:r>
              <a:t>     - Large-scale pretraining on diverse medical imaging data</a:t>
            </a:r>
          </a:p>
          <a:p>
            <a:pPr>
              <a:spcAft>
                <a:spcPts val="500"/>
              </a:spcAft>
              <a:defRPr sz="1300"/>
            </a:pPr>
            <a:r>
              <a:t>  3. Self-Supervised Features: DINOv2, MAE features as encoder initialization</a:t>
            </a:r>
          </a:p>
          <a:p>
            <a:pPr>
              <a:spcAft>
                <a:spcPts val="500"/>
              </a:spcAft>
              <a:defRPr sz="1300"/>
            </a:pPr>
            <a:r>
              <a:t>     - Pretext tasks (masked patch prediction, contrastive learning) on medical images</a:t>
            </a:r>
          </a:p>
          <a:p>
            <a:pPr>
              <a:spcAft>
                <a:spcPts val="500"/>
              </a:spcAft>
              <a:defRPr sz="1300"/>
            </a:pPr>
            <a:r>
              <a:t>  4. nnU-Net Pretrained: BraTS (brain tumor), ISLES (stroke) datasets</a:t>
            </a:r>
          </a:p>
          <a:p>
            <a:pPr>
              <a:spcAft>
                <a:spcPts val="500"/>
              </a:spcAft>
              <a:defRPr sz="1300"/>
            </a:pPr>
          </a:p>
          <a:p>
            <a:pPr>
              <a:spcAft>
                <a:spcPts val="500"/>
              </a:spcAft>
              <a:defRPr sz="1300"/>
            </a:pPr>
            <a:r>
              <a:t>• Current Approach: Random Kaiming initialization with LayerNorm:</a:t>
            </a:r>
          </a:p>
          <a:p>
            <a:pPr>
              <a:spcAft>
                <a:spcPts val="500"/>
              </a:spcAft>
              <a:defRPr sz="1300"/>
            </a:pPr>
            <a:r>
              <a:t>  - Achieves rapid convergence: 31% loss reduction in 10 epochs</a:t>
            </a:r>
          </a:p>
          <a:p>
            <a:pPr>
              <a:spcAft>
                <a:spcPts val="500"/>
              </a:spcAft>
              <a:defRPr sz="1300"/>
            </a:pPr>
            <a:r>
              <a:t>  - 73.7% accuracy in 20-epoch training on 38 subjects</a:t>
            </a:r>
          </a:p>
          <a:p>
            <a:pPr>
              <a:spcAft>
                <a:spcPts val="500"/>
              </a:spcAft>
              <a:defRPr sz="1300"/>
            </a:pPr>
            <a:r>
              <a:t>  - Demonstrates that medical VAE training is viable even without pretrained weights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88888"/>
                </a:solidFill>
              </a:defRPr>
            </a:pPr>
            <a:r>
              <a:t>BID Lab, ShanghaiTech University  ·  19/35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Comparison with Related Work  ·  相关工作对比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/>
            </a:pPr>
            <a:r>
              <a:t>• Project 1 — T2T-Bridge in context:</a:t>
            </a:r>
          </a:p>
          <a:p>
            <a:pPr>
              <a:spcAft>
                <a:spcPts val="500"/>
              </a:spcAft>
              <a:defRPr sz="1200"/>
            </a:pPr>
            <a:r>
              <a:t>  - I2SB (Liu et al., ICML 2023): 2D image restoration on ImageNet 256×256</a:t>
            </a:r>
          </a:p>
          <a:p>
            <a:pPr>
              <a:spcAft>
                <a:spcPts val="500"/>
              </a:spcAft>
              <a:defRPr sz="1200"/>
            </a:pPr>
            <a:r>
              <a:t>    → Ours: First 3D medical extension to infant MRI with Age CFG + Structure Consistency</a:t>
            </a:r>
          </a:p>
          <a:p>
            <a:pPr>
              <a:spcAft>
                <a:spcPts val="500"/>
              </a:spcAft>
              <a:defRPr sz="1200"/>
            </a:pPr>
            <a:r>
              <a:t>  - Cas-DiffCom (Guo et al., 2024): Cascaded diffusion for infant MRI</a:t>
            </a:r>
          </a:p>
          <a:p>
            <a:pPr>
              <a:spcAft>
                <a:spcPts val="500"/>
              </a:spcAft>
              <a:defRPr sz="1200"/>
            </a:pPr>
            <a:r>
              <a:t>    → Ours: Direct bridge model, 15-step inference vs 1000-step cascade</a:t>
            </a:r>
          </a:p>
          <a:p>
            <a:pPr>
              <a:spcAft>
                <a:spcPts val="500"/>
              </a:spcAft>
              <a:defRPr sz="1200"/>
            </a:pPr>
            <a:r>
              <a:t>  - Guided Schrödinger Bridge (Yang et al., 2025): Brain MR synthesis with limited data</a:t>
            </a:r>
          </a:p>
          <a:p>
            <a:pPr>
              <a:spcAft>
                <a:spcPts val="500"/>
              </a:spcAft>
              <a:defRPr sz="1200"/>
            </a:pPr>
            <a:r>
              <a:t>    → Ours: Thick-to-thin super-resolution with clinical deployment</a:t>
            </a:r>
          </a:p>
          <a:p>
            <a:pPr>
              <a:spcAft>
                <a:spcPts val="500"/>
              </a:spcAft>
              <a:defRPr sz="1200"/>
            </a:pPr>
          </a:p>
          <a:p>
            <a:pPr>
              <a:spcAft>
                <a:spcPts val="500"/>
              </a:spcAft>
              <a:defRPr sz="1200"/>
            </a:pPr>
            <a:r>
              <a:t>• Project 2 — MoPoE-VAE in context:</a:t>
            </a:r>
          </a:p>
          <a:p>
            <a:pPr>
              <a:spcAft>
                <a:spcPts val="500"/>
              </a:spcAft>
              <a:defRPr sz="1200"/>
            </a:pPr>
            <a:r>
              <a:t>  - Joint learning of cross-modal synthesis &amp; diagnosis (MedIA 2024, 46 citations)</a:t>
            </a:r>
          </a:p>
          <a:p>
            <a:pPr>
              <a:spcAft>
                <a:spcPts val="500"/>
              </a:spcAft>
              <a:defRPr sz="1200"/>
            </a:pPr>
            <a:r>
              <a:t>    → Ours: Explicit MoPoE fusion for principled handling of arbitrary modality subsets</a:t>
            </a:r>
          </a:p>
          <a:p>
            <a:pPr>
              <a:spcAft>
                <a:spcPts val="500"/>
              </a:spcAft>
              <a:defRPr sz="1200"/>
            </a:pPr>
            <a:r>
              <a:t>  - MC-RVAE (NeuroImage 2023, 46 citations): LSTM-based missing modality imputation</a:t>
            </a:r>
          </a:p>
          <a:p>
            <a:pPr>
              <a:spcAft>
                <a:spcPts val="500"/>
              </a:spcAft>
              <a:defRPr sz="1200"/>
            </a:pPr>
            <a:r>
              <a:t>    → Ours: 30% dropout is simpler, more interpretable, and doesn't require sequential modeling</a:t>
            </a:r>
          </a:p>
          <a:p>
            <a:pPr>
              <a:spcAft>
                <a:spcPts val="500"/>
              </a:spcAft>
              <a:defRPr sz="1200"/>
            </a:pPr>
            <a:r>
              <a:t>  - GLA-GAN (Sikka et al., 2025): GAN-based MRI→PET cross-modal synthesis</a:t>
            </a:r>
          </a:p>
          <a:p>
            <a:pPr>
              <a:spcAft>
                <a:spcPts val="500"/>
              </a:spcAft>
              <a:defRPr sz="1200"/>
            </a:pPr>
            <a:r>
              <a:t>    → Ours: VAE-based bidirectional FDG↔TAU synthesis + joint diagnosis</a:t>
            </a:r>
          </a:p>
          <a:p>
            <a:pPr>
              <a:spcAft>
                <a:spcPts val="500"/>
              </a:spcAft>
              <a:defRPr sz="1200"/>
            </a:pPr>
            <a:r>
              <a:t>  - Incomplete multi-modal disentanglement (Han et al., IEEE TMI 2025)</a:t>
            </a:r>
          </a:p>
          <a:p>
            <a:pPr>
              <a:spcAft>
                <a:spcPts val="500"/>
              </a:spcAft>
              <a:defRPr sz="1200"/>
            </a:pPr>
            <a:r>
              <a:t>    → Ours: Broader scope: synthesis + diagnosis, not just disentanglement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88888"/>
                </a:solidFill>
              </a:defRPr>
            </a:pPr>
            <a:r>
              <a:t>BID Lab, ShanghaiTech University  ·  20/35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Code Repository: Project Structure  ·  代码结构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/>
            </a:pPr>
            <a:r>
              <a:t>Repository: github.com/tzhazuma/bmebrainproject</a:t>
            </a:r>
          </a:p>
          <a:p>
            <a:pPr>
              <a:spcAft>
                <a:spcPts val="500"/>
              </a:spcAft>
              <a:defRPr sz="1100"/>
            </a:pPr>
          </a:p>
          <a:p>
            <a:pPr>
              <a:spcAft>
                <a:spcPts val="500"/>
              </a:spcAft>
              <a:defRPr sz="1100"/>
            </a:pPr>
            <a:r>
              <a:t>bmebrainproject/</a:t>
            </a:r>
          </a:p>
          <a:p>
            <a:pPr>
              <a:spcAft>
                <a:spcPts val="500"/>
              </a:spcAft>
              <a:defRPr sz="1100"/>
            </a:pPr>
            <a:r>
              <a:t>├── project1_ttsbridge/                 # T2T-Bridge (ISBI 2025)</a:t>
            </a:r>
          </a:p>
          <a:p>
            <a:pPr>
              <a:spcAft>
                <a:spcPts val="500"/>
              </a:spcAft>
              <a:defRPr sz="1100"/>
            </a:pPr>
            <a:r>
              <a:t>│   ├── models/                          # 674 lines of model code</a:t>
            </a:r>
          </a:p>
          <a:p>
            <a:pPr>
              <a:spcAft>
                <a:spcPts val="500"/>
              </a:spcAft>
              <a:defRPr sz="1100"/>
            </a:pPr>
            <a:r>
              <a:t>│   │   ├── unet3d.py                    # 3D U-Net backbone (218 lines)</a:t>
            </a:r>
          </a:p>
          <a:p>
            <a:pPr>
              <a:spcAft>
                <a:spcPts val="500"/>
              </a:spcAft>
              <a:defRPr sz="1100"/>
            </a:pPr>
            <a:r>
              <a:t>│   │   ├── diffusion.py                 # I2SB Diffusion Bridge process (169 lines)</a:t>
            </a:r>
          </a:p>
          <a:p>
            <a:pPr>
              <a:spcAft>
                <a:spcPts val="500"/>
              </a:spcAft>
              <a:defRPr sz="1100"/>
            </a:pPr>
            <a:r>
              <a:t>│   │   ├── age_cfg.py                   # Classifier-Free Age Guidance (64 lines)</a:t>
            </a:r>
          </a:p>
          <a:p>
            <a:pPr>
              <a:spcAft>
                <a:spcPts val="500"/>
              </a:spcAft>
              <a:defRPr sz="1100"/>
            </a:pPr>
            <a:r>
              <a:t>│   │   ├── seg_head.py                  # Tissue segmentation head (103 lines)</a:t>
            </a:r>
          </a:p>
          <a:p>
            <a:pPr>
              <a:spcAft>
                <a:spcPts val="500"/>
              </a:spcAft>
              <a:defRPr sz="1100"/>
            </a:pPr>
            <a:r>
              <a:t>│   │   └── losses.py                    # Combined loss functions (118 lines)</a:t>
            </a:r>
          </a:p>
          <a:p>
            <a:pPr>
              <a:spcAft>
                <a:spcPts val="500"/>
              </a:spcAft>
              <a:defRPr sz="1100"/>
            </a:pPr>
            <a:r>
              <a:t>│   ├── data/                            # Dataset + thick-slice simulation</a:t>
            </a:r>
          </a:p>
          <a:p>
            <a:pPr>
              <a:spcAft>
                <a:spcPts val="500"/>
              </a:spcAft>
              <a:defRPr sz="1100"/>
            </a:pPr>
            <a:r>
              <a:t>│   ├── scripts/                         # Preprocessing + registration + segmentation</a:t>
            </a:r>
          </a:p>
          <a:p>
            <a:pPr>
              <a:spcAft>
                <a:spcPts val="500"/>
              </a:spcAft>
              <a:defRPr sz="1100"/>
            </a:pPr>
            <a:r>
              <a:t>│   └── train.py, sample.py, evaluate.py # Full training pipeline</a:t>
            </a:r>
          </a:p>
          <a:p>
            <a:pPr>
              <a:spcAft>
                <a:spcPts val="500"/>
              </a:spcAft>
              <a:defRPr sz="1100"/>
            </a:pPr>
          </a:p>
          <a:p>
            <a:pPr>
              <a:spcAft>
                <a:spcPts val="500"/>
              </a:spcAft>
              <a:defRPr sz="1100"/>
            </a:pPr>
            <a:r>
              <a:t>├── project2_multimodal/                 # Multimodal VAE (ICASSP 2025)</a:t>
            </a:r>
          </a:p>
          <a:p>
            <a:pPr>
              <a:spcAft>
                <a:spcPts val="500"/>
              </a:spcAft>
              <a:defRPr sz="1100"/>
            </a:pPr>
            <a:r>
              <a:t>│   ├── models/                          # 746 lines of model code</a:t>
            </a:r>
          </a:p>
          <a:p>
            <a:pPr>
              <a:spcAft>
                <a:spcPts val="500"/>
              </a:spcAft>
              <a:defRPr sz="1100"/>
            </a:pPr>
            <a:r>
              <a:t>│   │   ├── encoders.py                  # Modality-specific 3D CNN encoders (134 lines)</a:t>
            </a:r>
          </a:p>
          <a:p>
            <a:pPr>
              <a:spcAft>
                <a:spcPts val="500"/>
              </a:spcAft>
              <a:defRPr sz="1100"/>
            </a:pPr>
            <a:r>
              <a:t>│   │   ├── mopoe_vae.py                 # MoPoE fusion framework (153 lines)</a:t>
            </a:r>
          </a:p>
          <a:p>
            <a:pPr>
              <a:spcAft>
                <a:spcPts val="500"/>
              </a:spcAft>
              <a:defRPr sz="1100"/>
            </a:pPr>
            <a:r>
              <a:t>│   │   ├── classifier.py                # Diagnosis head + Focal Loss (91 lines)</a:t>
            </a:r>
          </a:p>
          <a:p>
            <a:pPr>
              <a:spcAft>
                <a:spcPts val="500"/>
              </a:spcAft>
              <a:defRPr sz="1100"/>
            </a:pPr>
            <a:r>
              <a:t>│   │   ├── decoders.py                  # Cross-modal synthesis decoders (108 lines)</a:t>
            </a:r>
          </a:p>
          <a:p>
            <a:pPr>
              <a:spcAft>
                <a:spcPts val="500"/>
              </a:spcAft>
              <a:defRPr sz="1100"/>
            </a:pPr>
            <a:r>
              <a:t>│   │   ├── fusion.py                    # Adaptive modality fusion (103 lines)</a:t>
            </a:r>
          </a:p>
          <a:p>
            <a:pPr>
              <a:spcAft>
                <a:spcPts val="500"/>
              </a:spcAft>
              <a:defRPr sz="1100"/>
            </a:pPr>
            <a:r>
              <a:t>│   │   └── losses.py                    # Combined training loss (156 lines)</a:t>
            </a:r>
          </a:p>
          <a:p>
            <a:pPr>
              <a:spcAft>
                <a:spcPts val="500"/>
              </a:spcAft>
              <a:defRPr sz="1100"/>
            </a:pPr>
            <a:r>
              <a:t>│   ├── data/                            # ADNI + synthetic dataset loaders</a:t>
            </a:r>
          </a:p>
          <a:p>
            <a:pPr>
              <a:spcAft>
                <a:spcPts val="500"/>
              </a:spcAft>
              <a:defRPr sz="1100"/>
            </a:pPr>
            <a:r>
              <a:t>│   └── train.py (fp16 AMP), evaluate.py # Training + evaluation pipeline</a:t>
            </a:r>
          </a:p>
          <a:p>
            <a:pPr>
              <a:spcAft>
                <a:spcPts val="500"/>
              </a:spcAft>
              <a:defRPr sz="1100"/>
            </a:pPr>
          </a:p>
          <a:p>
            <a:pPr>
              <a:spcAft>
                <a:spcPts val="500"/>
              </a:spcAft>
              <a:defRPr sz="1100"/>
            </a:pPr>
            <a:r>
              <a:t>├── scripts/                             # verify_tools.py (18/18 pass), adni_search.py</a:t>
            </a:r>
          </a:p>
          <a:p>
            <a:pPr>
              <a:spcAft>
                <a:spcPts val="500"/>
              </a:spcAft>
              <a:defRPr sz="1100"/>
            </a:pPr>
            <a:r>
              <a:t>└── docs/                                # 3 PDF reports, 2 PPTX, 10 figures, datasets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88888"/>
                </a:solidFill>
              </a:defRPr>
            </a:pPr>
            <a:r>
              <a:t>BID Lab, ShanghaiTech University  ·  21/35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Future Work &amp; Research Directions  ·  未来展望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/>
            </a:pPr>
            <a:r>
              <a:t>• Short-term (1-3 months):</a:t>
            </a:r>
          </a:p>
          <a:p>
            <a:pPr>
              <a:spcAft>
                <a:spcPts val="500"/>
              </a:spcAft>
              <a:defRPr sz="1300"/>
            </a:pPr>
            <a:r>
              <a:t>  - Complete BOBs infant MRI dataset download (1.9GB, 0.8mm isotropic, CC-BY 4.0)</a:t>
            </a:r>
          </a:p>
          <a:p>
            <a:pPr>
              <a:spcAft>
                <a:spcPts val="500"/>
              </a:spcAft>
              <a:defRPr sz="1300"/>
            </a:pPr>
            <a:r>
              <a:t>  - Run T2T-Bridge full training on infant data + generate comparison figures</a:t>
            </a:r>
          </a:p>
          <a:p>
            <a:pPr>
              <a:spcAft>
                <a:spcPts val="500"/>
              </a:spcAft>
              <a:defRPr sz="1300"/>
            </a:pPr>
            <a:r>
              <a:t>  - Train MoPoE-VAE on all 225 ADNI subjects with full cross-modal pipeline</a:t>
            </a:r>
          </a:p>
          <a:p>
            <a:pPr>
              <a:spcAft>
                <a:spcPts val="500"/>
              </a:spcAft>
              <a:defRPr sz="1300"/>
            </a:pPr>
            <a:r>
              <a:t>  - Run full evaluation: modality-subset comparison (T1-only, FDG-only, TAU-only)</a:t>
            </a:r>
          </a:p>
          <a:p>
            <a:pPr>
              <a:spcAft>
                <a:spcPts val="500"/>
              </a:spcAft>
              <a:defRPr sz="1300"/>
            </a:pPr>
          </a:p>
          <a:p>
            <a:pPr>
              <a:spcAft>
                <a:spcPts val="500"/>
              </a:spcAft>
              <a:defRPr sz="1300"/>
            </a:pPr>
            <a:r>
              <a:t>• Medium-term (3-6 months):</a:t>
            </a:r>
          </a:p>
          <a:p>
            <a:pPr>
              <a:spcAft>
                <a:spcPts val="500"/>
              </a:spcAft>
              <a:defRPr sz="1300"/>
            </a:pPr>
            <a:r>
              <a:t>  - Pretrain encoders on MONAI medical segmentation tasks for better initialization</a:t>
            </a:r>
          </a:p>
          <a:p>
            <a:pPr>
              <a:spcAft>
                <a:spcPts val="500"/>
              </a:spcAft>
              <a:defRPr sz="1300"/>
            </a:pPr>
            <a:r>
              <a:t>  - Add transformer-based backbones: UNETR, SwinUNETR to both projects</a:t>
            </a:r>
          </a:p>
          <a:p>
            <a:pPr>
              <a:spcAft>
                <a:spcPts val="500"/>
              </a:spcAft>
              <a:defRPr sz="1300"/>
            </a:pPr>
            <a:r>
              <a:t>  - Implement uncertainty quantification via MC-Dropout for diagnostic confidence scores</a:t>
            </a:r>
          </a:p>
          <a:p>
            <a:pPr>
              <a:spcAft>
                <a:spcPts val="500"/>
              </a:spcAft>
              <a:defRPr sz="1300"/>
            </a:pPr>
            <a:r>
              <a:t>  - Explore diffusion-based cross-modal synthesis as an alternative to VAE decoders</a:t>
            </a:r>
          </a:p>
          <a:p>
            <a:pPr>
              <a:spcAft>
                <a:spcPts val="500"/>
              </a:spcAft>
              <a:defRPr sz="1300"/>
            </a:pPr>
            <a:r>
              <a:t>  - Multi-GPU distributed training on 4× RTX 5090 remote servers</a:t>
            </a:r>
          </a:p>
          <a:p>
            <a:pPr>
              <a:spcAft>
                <a:spcPts val="500"/>
              </a:spcAft>
              <a:defRPr sz="1300"/>
            </a:pPr>
          </a:p>
          <a:p>
            <a:pPr>
              <a:spcAft>
                <a:spcPts val="500"/>
              </a:spcAft>
              <a:defRPr sz="1300"/>
            </a:pPr>
            <a:r>
              <a:t>• Long-term (6-12 months):</a:t>
            </a:r>
          </a:p>
          <a:p>
            <a:pPr>
              <a:spcAft>
                <a:spcPts val="500"/>
              </a:spcAft>
              <a:defRPr sz="1300"/>
            </a:pPr>
            <a:r>
              <a:t>  - Multi-site external validation: OASIS-3, UK Biobank, AIBL datasets</a:t>
            </a:r>
          </a:p>
          <a:p>
            <a:pPr>
              <a:spcAft>
                <a:spcPts val="500"/>
              </a:spcAft>
              <a:defRPr sz="1300"/>
            </a:pPr>
            <a:r>
              <a:t>  - Prospective clinical study for T2T-Bridge at Fudan Children's Hospital</a:t>
            </a:r>
          </a:p>
          <a:p>
            <a:pPr>
              <a:spcAft>
                <a:spcPts val="500"/>
              </a:spcAft>
              <a:defRPr sz="1300"/>
            </a:pPr>
            <a:r>
              <a:t>  - Integrate genetic biomarkers (APOE-ε4) and serum biomarkers (p-tau217) into multimodal fusion</a:t>
            </a:r>
          </a:p>
          <a:p>
            <a:pPr>
              <a:spcAft>
                <a:spcPts val="500"/>
              </a:spcAft>
              <a:defRPr sz="1300"/>
            </a:pPr>
            <a:r>
              <a:t>  - Deploy models as clinical decision support tools with regulatory approval</a:t>
            </a:r>
          </a:p>
          <a:p>
            <a:pPr>
              <a:spcAft>
                <a:spcPts val="500"/>
              </a:spcAft>
              <a:defRPr sz="1300"/>
            </a:pPr>
            <a:r>
              <a:t>  - Publish in high-impact journals (Radiology, NeuroImage, Medical Image Analysis)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88888"/>
                </a:solidFill>
              </a:defRPr>
            </a:pPr>
            <a:r>
              <a:t>BID Lab, ShanghaiTech University  ·  22/35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  ·  谢谢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Questions &amp; Discussion</a:t>
            </a:r>
          </a:p>
          <a:p>
            <a:r>
              <a:t>BID Lab, School of Biomedical Engineering, ShanghaiTech University</a:t>
            </a:r>
          </a:p>
          <a:p>
            <a:r>
              <a:t>GitHub: github.com/tzhazuma/bmebrainproject</a:t>
            </a:r>
          </a:p>
          <a:p/>
          <a:p>
            <a:r>
              <a:t>References:</a:t>
            </a:r>
          </a:p>
          <a:p>
            <a:r>
              <a:t>  Zhu et al., T2T-Bridge: Direct Diffusion Bridge for Thick-to-Thin Slice Infant MRI, ISBI 2025</a:t>
            </a:r>
          </a:p>
          <a:p>
            <a:r>
              <a:t>  Tao et al., Revolutionizing Disease Diagnosis with simultaneous PET/MR, ICASSP 2025</a:t>
            </a:r>
          </a:p>
          <a:p>
            <a:r>
              <a:t>  Liu et al., I2SB: Image-to-Image Schrödinger Bridge, ICML 2023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